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geokavach_theme1.xml" ContentType="application/vnd.openxmlformats-officedocument.theme+xml"/>
  <Override PartName="/ppt/slideMasters/geokavach_slideMaster1.xml" ContentType="application/vnd.openxmlformats-officedocument.presentationml.slideMaster+xml"/>
  <Override PartName="/ppt/slideMasters/theme/geokavach_theme2.xml" ContentType="application/vnd.openxmlformats-officedocument.theme+xml"/>
  <Override PartName="/ppt/slideLayouts/geokavach_slideLayout1.xml" ContentType="application/vnd.openxmlformats-officedocument.presentationml.slideLayout+xml"/>
  <Override PartName="/ppt/notesMasters/geokavach_notesMaster1.xml" ContentType="application/vnd.openxmlformats-officedocument.presentationml.notesMaster+xml"/>
  <Override PartName="/ppt/notesMasters/theme/geokavach_theme3.xml" ContentType="application/vnd.openxmlformats-officedocument.theme+xml"/>
  <Override PartName="/ppt/geokavach_presProps.xml" ContentType="application/vnd.openxmlformats-officedocument.presentationml.presProps+xml"/>
  <Override PartName="/ppt/geokavach_tableStyles.xml" ContentType="application/vnd.openxmlformats-officedocument.presentationml.tableStyles+xml"/>
  <Override PartName="/ppt/slides/geokavach_slide1.xml" ContentType="application/vnd.openxmlformats-officedocument.presentationml.slide+xml"/>
  <Override PartName="/ppt/notesSlides/geokavach_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49" r:id="rId14"/>
  </p:sldMasterIdLst>
  <p:notesMasterIdLst>
    <p:notesMasterId r:id="rId8"/>
    <p:notesMasterId r:id="rId15"/>
  </p:notesMasterIdLst>
  <p:sldIdLst>
    <p:sldId id="291" r:id="rId2"/>
    <p:sldId id="281" r:id="rId3"/>
    <p:sldId id="297" r:id="rId1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geokavach_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geokavach_tableStyles.xml><?xml version="1.0" encoding="utf-8"?>
<a:tblStyleLst xmlns:a="http://schemas.openxmlformats.org/drawingml/2006/main" def="{5C22544A-7EE6-4342-B048-85BDC9FD1C3A}"/>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89899" autoAdjust="0"/>
  </p:normalViewPr>
  <p:slideViewPr>
    <p:cSldViewPr snapToGrid="0" snapToObjects="1">
      <p:cViewPr varScale="1">
        <p:scale>
          <a:sx n="107" d="100"/>
          <a:sy n="107" d="100"/>
        </p:scale>
        <p:origin x="750" y="138"/>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3" Type="http://schemas.openxmlformats.org/officeDocument/2006/relationships/slide" Target="slides/geokavach_slide1.xml"/><Relationship Id="rId14" Type="http://schemas.openxmlformats.org/officeDocument/2006/relationships/slideMaster" Target="slideMasters/geokavach_slideMaster1.xml"/><Relationship Id="rId15" Type="http://schemas.openxmlformats.org/officeDocument/2006/relationships/notesMaster" Target="notesMasters/geokavach_notesMaster1.xml"/></Relationships>
</file>

<file path=ppt/notesMasters/_rels/geokavach_notesMaster1.xml.rels><?xml version='1.0' encoding='UTF-8' standalone='yes'?>
<Relationships xmlns="http://schemas.openxmlformats.org/package/2006/relationships"><Relationship Type="http://schemas.openxmlformats.org/officeDocument/2006/relationships/theme" Target="theme/geokavach_theme3.xml" Id="R7418d88573a947b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geokavach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Masters/theme/geokavach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geokavach_notesSlide1.xml.rels><?xml version='1.0' encoding='UTF-8' standalone='yes'?>
<Relationships xmlns="http://schemas.openxmlformats.org/package/2006/relationships"><Relationship Type="http://schemas.openxmlformats.org/officeDocument/2006/relationships/slide" Target="../slides/geokavach_slide1.xml" Id="Rd9ce93f0ef534d32"/><Relationship Type="http://schemas.openxmlformats.org/officeDocument/2006/relationships/notesMaster" Target="../notesMasters/geokavach_notesMaster1.xml" Id="R11d6521730b54122"/></Relationships>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geokavach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GeoKavach is a decision-support prototype. The district pilot and offline access are proposed work. No guaranteed prediction accuracy, certified safe locations, complete warning coverage, or automatic evacuation decisions are claimed. Content supplied by the user. SIH logo reused from the supplied PPT SIH.pptx.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geokavach_slideLayout1.xml.rels><?xml version='1.0' encoding='UTF-8' standalone='yes'?>
<Relationships xmlns="http://schemas.openxmlformats.org/package/2006/relationships"><Relationship Type="http://schemas.openxmlformats.org/officeDocument/2006/relationships/slideMaster" Target="../slideMasters/geokavach_slideMaster1.xml" Id="R65f7bc246bd14168"/></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geokavach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geokavach_slideMaster1.xml.rels><?xml version='1.0' encoding='UTF-8' standalone='yes'?>
<Relationships xmlns="http://schemas.openxmlformats.org/package/2006/relationships"><Relationship Type="http://schemas.openxmlformats.org/officeDocument/2006/relationships/theme" Target="theme/geokavach_theme2.xml" Id="Rc8b6b90b1d0c419f"/><Relationship Type="http://schemas.openxmlformats.org/officeDocument/2006/relationships/slideLayout" Target="../slideLayouts/geokavach_slideLayout1.xml" Id="Rcfbce71322354848"/></Relationships>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geokavach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bce713223548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theme/geokavach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geokavach_slide1.xml.rels><?xml version='1.0' encoding='UTF-8' standalone='yes'?>
<Relationships xmlns="http://schemas.openxmlformats.org/package/2006/relationships"><Relationship Type="http://schemas.openxmlformats.org/officeDocument/2006/relationships/slideLayout" Target="../slideLayouts/geokavach_slideLayout1.xml" Id="Rd11d4594bc3d41b9"/><Relationship Type="http://schemas.openxmlformats.org/officeDocument/2006/relationships/image" Target="../media/geokavach_image.png" Id="R2396b972af8b4a53"/><Relationship Type="http://schemas.openxmlformats.org/officeDocument/2006/relationships/notesSlide" Target="../notesSlides/geokavach_notesSlide1.xml" Id="Re8868bf14e384e4b"/></Relationships>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geokavach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title accent">
            <a:extLst xmlns:a="http://schemas.openxmlformats.org/drawingml/2006/main">
              <a:ext uri="{FF2B5EF4-FFF2-40B4-BE49-F238E27FC236}">
                <a16:creationId xmlns:a16="http://schemas.microsoft.com/office/drawing/2014/main" id="{49CF207F-9A70-456D-AF57-B9659320AC0F}"/>
              </a:ext>
            </a:extLst>
          </p:cNvPr>
          <p:cNvSpPr>
            <a:spLocks xmlns:a="http://schemas.openxmlformats.org/drawingml/2006/main" noGrp="1"/>
          </p:cNvSpPr>
          <p:nvPr/>
        </p:nvSpPr>
        <p:spPr>
          <a:xfrm xmlns:a="http://schemas.openxmlformats.org/drawingml/2006/main">
            <a:off x="285750" y="266700"/>
            <a:ext cx="47625" cy="581025"/>
          </a:xfrm>
          <a:prstGeom xmlns:a="http://schemas.openxmlformats.org/drawingml/2006/main" prst="roundRect">
            <a:avLst>
              <a:gd name="adj" fmla="val 50000"/>
            </a:avLst>
          </a:prstGeom>
          <a:solidFill xmlns:a="http://schemas.openxmlformats.org/drawingml/2006/main">
            <a:srgbClr val="087D88"/>
          </a:solidFill>
          <a:ln xmlns:a="http://schemas.openxmlformats.org/drawingml/2006/main" w="0">
            <a:noFill/>
          </a:ln>
        </p:spPr>
      </p:sp>
      <p:sp>
        <p:nvSpPr>
          <p:cNvPr id="2" name="slide title">
            <a:extLst xmlns:a="http://schemas.openxmlformats.org/drawingml/2006/main">
              <a:ext uri="{FF2B5EF4-FFF2-40B4-BE49-F238E27FC236}">
                <a16:creationId xmlns:a16="http://schemas.microsoft.com/office/drawing/2014/main" id="{546B77FF-E32D-46B5-B961-E0A756CD699D}"/>
              </a:ext>
            </a:extLst>
          </p:cNvPr>
          <p:cNvSpPr>
            <a:spLocks xmlns:a="http://schemas.openxmlformats.org/drawingml/2006/main" noGrp="1"/>
          </p:cNvSpPr>
          <p:nvPr/>
        </p:nvSpPr>
        <p:spPr>
          <a:xfrm xmlns:a="http://schemas.openxmlformats.org/drawingml/2006/main">
            <a:off x="457200" y="276225"/>
            <a:ext cx="857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B49"/>
                </a:solidFill>
                <a:latin typeface="Arial"/>
                <a:ea typeface="Arial"/>
                <a:cs typeface="Arial"/>
              </a:defRPr>
            </a:pPr>
            <a:r>
              <a:rPr sz="2550" b="1">
                <a:solidFill>
                  <a:srgbClr val="142B49"/>
                </a:solidFill>
                <a:latin typeface="Arial"/>
                <a:ea typeface="Arial"/>
                <a:cs typeface="Arial"/>
              </a:rPr>
              <a:t>FEASIBILITY AND VIABILITY</a:t>
            </a:r>
          </a:p>
        </p:txBody>
      </p:sp>
      <p:sp>
        <p:nvSpPr>
          <p:cNvPr id="3" name="product subtitle">
            <a:extLst xmlns:a="http://schemas.openxmlformats.org/drawingml/2006/main">
              <a:ext uri="{FF2B5EF4-FFF2-40B4-BE49-F238E27FC236}">
                <a16:creationId xmlns:a16="http://schemas.microsoft.com/office/drawing/2014/main" id="{8D90A9CA-C15B-4788-9436-95702E8E23DB}"/>
              </a:ext>
            </a:extLst>
          </p:cNvPr>
          <p:cNvSpPr>
            <a:spLocks xmlns:a="http://schemas.openxmlformats.org/drawingml/2006/main" noGrp="1"/>
          </p:cNvSpPr>
          <p:nvPr/>
        </p:nvSpPr>
        <p:spPr>
          <a:xfrm xmlns:a="http://schemas.openxmlformats.org/drawingml/2006/main">
            <a:off x="466725" y="7334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087D88"/>
                </a:solidFill>
                <a:latin typeface="Arial"/>
                <a:ea typeface="Arial"/>
                <a:cs typeface="Arial"/>
              </a:defRPr>
            </a:pPr>
            <a:r>
              <a:rPr sz="1275" b="0">
                <a:solidFill>
                  <a:srgbClr val="087D88"/>
                </a:solidFill>
                <a:latin typeface="Arial"/>
                <a:ea typeface="Arial"/>
                <a:cs typeface="Arial"/>
              </a:rPr>
              <a:t>GeoKavach — Hazard Intelligence and Relocation Decision Support</a:t>
            </a:r>
          </a:p>
        </p:txBody>
      </p:sp>
      <p:sp>
        <p:nvSpPr>
          <p:cNvPr id="4" name="reserved GeoKavach logo">
            <a:extLst xmlns:a="http://schemas.openxmlformats.org/drawingml/2006/main">
              <a:ext uri="{FF2B5EF4-FFF2-40B4-BE49-F238E27FC236}">
                <a16:creationId xmlns:a16="http://schemas.microsoft.com/office/drawing/2014/main" id="{80A2520E-D739-477F-96A3-93E82C72C8CD}"/>
              </a:ext>
            </a:extLst>
          </p:cNvPr>
          <p:cNvSpPr>
            <a:spLocks xmlns:a="http://schemas.openxmlformats.org/drawingml/2006/main" noGrp="1"/>
          </p:cNvSpPr>
          <p:nvPr/>
        </p:nvSpPr>
        <p:spPr>
          <a:xfrm xmlns:a="http://schemas.openxmlformats.org/drawingml/2006/main">
            <a:off x="9525000" y="276225"/>
            <a:ext cx="895350" cy="495300"/>
          </a:xfrm>
          <a:prstGeom xmlns:a="http://schemas.openxmlformats.org/drawingml/2006/main" prst="roundRect">
            <a:avLst>
              <a:gd name="adj" fmla="val 23077"/>
            </a:avLst>
          </a:prstGeom>
          <a:solidFill xmlns:a="http://schemas.openxmlformats.org/drawingml/2006/main">
            <a:srgbClr val="FAFCFD"/>
          </a:solidFill>
          <a:ln xmlns:a="http://schemas.openxmlformats.org/drawingml/2006/main" w="9525">
            <a:solidFill>
              <a:srgbClr val="DFE7EB"/>
            </a:solidFill>
          </a:ln>
        </p:spPr>
      </p:sp>
      <p:sp>
        <p:nvSpPr>
          <p:cNvPr id="5" name="logo space label">
            <a:extLst xmlns:a="http://schemas.openxmlformats.org/drawingml/2006/main">
              <a:ext uri="{FF2B5EF4-FFF2-40B4-BE49-F238E27FC236}">
                <a16:creationId xmlns:a16="http://schemas.microsoft.com/office/drawing/2014/main" id="{4ABA20B1-BE7D-4436-9EA9-2715122A971B}"/>
              </a:ext>
            </a:extLst>
          </p:cNvPr>
          <p:cNvSpPr>
            <a:spLocks xmlns:a="http://schemas.openxmlformats.org/drawingml/2006/main" noGrp="1"/>
          </p:cNvSpPr>
          <p:nvPr/>
        </p:nvSpPr>
        <p:spPr>
          <a:xfrm xmlns:a="http://schemas.openxmlformats.org/drawingml/2006/main">
            <a:off x="9582150" y="361950"/>
            <a:ext cx="781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00" b="0">
                <a:solidFill>
                  <a:srgbClr val="8494A2"/>
                </a:solidFill>
                <a:latin typeface="Arial"/>
                <a:ea typeface="Arial"/>
                <a:cs typeface="Arial"/>
              </a:defRPr>
            </a:pPr>
            <a:r>
              <a:rPr sz="900" b="0">
                <a:solidFill>
                  <a:srgbClr val="8494A2"/>
                </a:solidFill>
                <a:latin typeface="Arial"/>
                <a:ea typeface="Arial"/>
                <a:cs typeface="Arial"/>
              </a:rPr>
              <a:t>GeoKavach</a:t>
            </a:r>
          </a:p>
          <a:p xmlns:a="http://schemas.openxmlformats.org/drawingml/2006/main">
            <a:pPr algn="ctr">
              <a:defRPr sz="900" b="0">
                <a:solidFill>
                  <a:srgbClr val="8494A2"/>
                </a:solidFill>
                <a:latin typeface="Arial"/>
                <a:ea typeface="Arial"/>
                <a:cs typeface="Arial"/>
              </a:defRPr>
            </a:pPr>
            <a:r>
              <a:rPr sz="900" b="0">
                <a:solidFill>
                  <a:srgbClr val="8494A2"/>
                </a:solidFill>
                <a:latin typeface="Arial"/>
                <a:ea typeface="Arial"/>
                <a:cs typeface="Arial"/>
              </a:rPr>
              <a:t>logo space</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2396b972af8b4a53"/>
          <a:stretch xmlns:a="http://schemas.openxmlformats.org/drawingml/2006/main"/>
        </p:blipFill>
        <p:spPr>
          <a:xfrm xmlns:a="http://schemas.openxmlformats.org/drawingml/2006/main">
            <a:off x="10668000" y="235768"/>
            <a:ext cx="1200150" cy="566688"/>
          </a:xfrm>
          <a:prstGeom xmlns:a="http://schemas.openxmlformats.org/drawingml/2006/main" prst="rect">
            <a:avLst/>
          </a:prstGeom>
        </p:spPr>
      </p:pic>
      <p:sp>
        <p:nvSpPr>
          <p:cNvPr id="7" name="card 1">
            <a:extLst xmlns:a="http://schemas.openxmlformats.org/drawingml/2006/main">
              <a:ext uri="{FF2B5EF4-FFF2-40B4-BE49-F238E27FC236}">
                <a16:creationId xmlns:a16="http://schemas.microsoft.com/office/drawing/2014/main" id="{036F43B0-64F1-476A-9745-9D4D353ED0A1}"/>
              </a:ext>
            </a:extLst>
          </p:cNvPr>
          <p:cNvSpPr>
            <a:spLocks xmlns:a="http://schemas.openxmlformats.org/drawingml/2006/main" noGrp="1"/>
          </p:cNvSpPr>
          <p:nvPr/>
        </p:nvSpPr>
        <p:spPr>
          <a:xfrm xmlns:a="http://schemas.openxmlformats.org/drawingml/2006/main">
            <a:off x="285750" y="1095375"/>
            <a:ext cx="3733800" cy="1809750"/>
          </a:xfrm>
          <a:prstGeom xmlns:a="http://schemas.openxmlformats.org/drawingml/2006/main" prst="roundRect">
            <a:avLst>
              <a:gd name="adj" fmla="val 6316"/>
            </a:avLst>
          </a:prstGeom>
          <a:solidFill xmlns:a="http://schemas.openxmlformats.org/drawingml/2006/main">
            <a:srgbClr val="F0F5F8"/>
          </a:solidFill>
          <a:ln xmlns:a="http://schemas.openxmlformats.org/drawingml/2006/main" w="9525">
            <a:solidFill>
              <a:srgbClr val="D3DFE6"/>
            </a:solidFill>
          </a:ln>
        </p:spPr>
      </p:sp>
      <p:sp>
        <p:nvSpPr>
          <p:cNvPr id="8" name="card heading 0">
            <a:extLst xmlns:a="http://schemas.openxmlformats.org/drawingml/2006/main">
              <a:ext uri="{FF2B5EF4-FFF2-40B4-BE49-F238E27FC236}">
                <a16:creationId xmlns:a16="http://schemas.microsoft.com/office/drawing/2014/main" id="{EEABC792-F62C-40D5-8848-FB0B627EC010}"/>
              </a:ext>
            </a:extLst>
          </p:cNvPr>
          <p:cNvSpPr>
            <a:spLocks xmlns:a="http://schemas.openxmlformats.org/drawingml/2006/main" noGrp="1"/>
          </p:cNvSpPr>
          <p:nvPr/>
        </p:nvSpPr>
        <p:spPr>
          <a:xfrm xmlns:a="http://schemas.openxmlformats.org/drawingml/2006/main">
            <a:off x="457200" y="1238250"/>
            <a:ext cx="3390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42B49"/>
                </a:solidFill>
                <a:latin typeface="Arial"/>
                <a:ea typeface="Arial"/>
                <a:cs typeface="Arial"/>
              </a:defRPr>
            </a:pPr>
            <a:r>
              <a:rPr sz="1500" b="1">
                <a:solidFill>
                  <a:srgbClr val="142B49"/>
                </a:solidFill>
                <a:latin typeface="Arial"/>
                <a:ea typeface="Arial"/>
                <a:cs typeface="Arial"/>
              </a:rPr>
              <a:t>Technical Feasibility</a:t>
            </a:r>
          </a:p>
        </p:txBody>
      </p:sp>
      <p:sp>
        <p:nvSpPr>
          <p:cNvPr id="9" name="card rule 0">
            <a:extLst xmlns:a="http://schemas.openxmlformats.org/drawingml/2006/main">
              <a:ext uri="{FF2B5EF4-FFF2-40B4-BE49-F238E27FC236}">
                <a16:creationId xmlns:a16="http://schemas.microsoft.com/office/drawing/2014/main" id="{069834F1-5F5A-4EDD-85EB-86DBCB41AF7A}"/>
              </a:ext>
            </a:extLst>
          </p:cNvPr>
          <p:cNvSpPr>
            <a:spLocks xmlns:a="http://schemas.openxmlformats.org/drawingml/2006/main" noGrp="1"/>
          </p:cNvSpPr>
          <p:nvPr/>
        </p:nvSpPr>
        <p:spPr>
          <a:xfrm xmlns:a="http://schemas.openxmlformats.org/drawingml/2006/main">
            <a:off x="457200" y="1552575"/>
            <a:ext cx="3390900" cy="0"/>
          </a:xfrm>
          <a:prstGeom xmlns:a="http://schemas.openxmlformats.org/drawingml/2006/main" prst="line">
            <a:avLst/>
          </a:prstGeom>
          <a:noFill xmlns:a="http://schemas.openxmlformats.org/drawingml/2006/main"/>
          <a:ln xmlns:a="http://schemas.openxmlformats.org/drawingml/2006/main" w="9525">
            <a:solidFill>
              <a:srgbClr val="C9DADF"/>
            </a:solidFill>
          </a:ln>
        </p:spPr>
      </p:sp>
      <p:sp>
        <p:nvSpPr>
          <p:cNvPr id="10" name="card body 0">
            <a:extLst xmlns:a="http://schemas.openxmlformats.org/drawingml/2006/main">
              <a:ext uri="{FF2B5EF4-FFF2-40B4-BE49-F238E27FC236}">
                <a16:creationId xmlns:a16="http://schemas.microsoft.com/office/drawing/2014/main" id="{370F46B1-1F71-40FF-BA8F-B1C21BF38964}"/>
              </a:ext>
            </a:extLst>
          </p:cNvPr>
          <p:cNvSpPr>
            <a:spLocks xmlns:a="http://schemas.openxmlformats.org/drawingml/2006/main" noGrp="1"/>
          </p:cNvSpPr>
          <p:nvPr/>
        </p:nvSpPr>
        <p:spPr>
          <a:xfrm xmlns:a="http://schemas.openxmlformats.org/drawingml/2006/main">
            <a:off x="447675" y="166687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27000" indent="-88900" algn="l">
              <a:spcAft>
                <a:spcPts val="500"/>
              </a:spcAft>
              <a:buChar char="•"/>
              <a:defRPr sz="1177" b="0">
                <a:solidFill>
                  <a:srgbClr val="35475B"/>
                </a:solidFill>
                <a:latin typeface="Arial"/>
                <a:ea typeface="Arial"/>
                <a:cs typeface="Arial"/>
              </a:defRPr>
            </a:pPr>
            <a:r>
              <a:t>Integrates official disaster warnings, earthquake observations and weather forecasts.</a:t>
            </a:r>
          </a:p>
          <a:p xmlns:a="http://schemas.openxmlformats.org/drawingml/2006/main">
            <a:pPr marL="127000" indent="-88900" algn="l">
              <a:spcAft>
                <a:spcPts val="500"/>
              </a:spcAft>
              <a:buChar char="•"/>
              <a:defRPr sz="1177" b="0">
                <a:solidFill>
                  <a:srgbClr val="35475B"/>
                </a:solidFill>
                <a:latin typeface="Arial"/>
                <a:ea typeface="Arial"/>
                <a:cs typeface="Arial"/>
              </a:defRPr>
            </a:pPr>
            <a:r>
              <a:t>Interactive maps combine live hazard information with saved field assessments.</a:t>
            </a:r>
          </a:p>
          <a:p xmlns:a="http://schemas.openxmlformats.org/drawingml/2006/main">
            <a:pPr marL="127000" indent="-88900" algn="l">
              <a:spcAft>
                <a:spcPts val="500"/>
              </a:spcAft>
              <a:buChar char="•"/>
              <a:defRPr sz="1177" b="0">
                <a:solidFill>
                  <a:srgbClr val="35475B"/>
                </a:solidFill>
                <a:latin typeface="Arial"/>
                <a:ea typeface="Arial"/>
                <a:cs typeface="Arial"/>
              </a:defRPr>
            </a:pPr>
            <a:r>
              <a:t>Existing risk and capacity rules support relocation planning.</a:t>
            </a:r>
          </a:p>
        </p:txBody>
      </p:sp>
      <p:sp>
        <p:nvSpPr>
          <p:cNvPr id="11" name="card 2">
            <a:extLst xmlns:a="http://schemas.openxmlformats.org/drawingml/2006/main">
              <a:ext uri="{FF2B5EF4-FFF2-40B4-BE49-F238E27FC236}">
                <a16:creationId xmlns:a16="http://schemas.microsoft.com/office/drawing/2014/main" id="{E9278D8A-697E-4BD3-B7B6-13D89A1BD8D2}"/>
              </a:ext>
            </a:extLst>
          </p:cNvPr>
          <p:cNvSpPr>
            <a:spLocks xmlns:a="http://schemas.openxmlformats.org/drawingml/2006/main" noGrp="1"/>
          </p:cNvSpPr>
          <p:nvPr/>
        </p:nvSpPr>
        <p:spPr>
          <a:xfrm xmlns:a="http://schemas.openxmlformats.org/drawingml/2006/main">
            <a:off x="4229100" y="1095375"/>
            <a:ext cx="3733800" cy="1809750"/>
          </a:xfrm>
          <a:prstGeom xmlns:a="http://schemas.openxmlformats.org/drawingml/2006/main" prst="roundRect">
            <a:avLst>
              <a:gd name="adj" fmla="val 6316"/>
            </a:avLst>
          </a:prstGeom>
          <a:solidFill xmlns:a="http://schemas.openxmlformats.org/drawingml/2006/main">
            <a:srgbClr val="F0F5F8"/>
          </a:solidFill>
          <a:ln xmlns:a="http://schemas.openxmlformats.org/drawingml/2006/main" w="9525">
            <a:solidFill>
              <a:srgbClr val="D3DFE6"/>
            </a:solidFill>
          </a:ln>
        </p:spPr>
      </p:sp>
      <p:sp>
        <p:nvSpPr>
          <p:cNvPr id="12" name="card heading 1">
            <a:extLst xmlns:a="http://schemas.openxmlformats.org/drawingml/2006/main">
              <a:ext uri="{FF2B5EF4-FFF2-40B4-BE49-F238E27FC236}">
                <a16:creationId xmlns:a16="http://schemas.microsoft.com/office/drawing/2014/main" id="{70B21B77-CCD1-4147-9E45-139EF3253408}"/>
              </a:ext>
            </a:extLst>
          </p:cNvPr>
          <p:cNvSpPr>
            <a:spLocks xmlns:a="http://schemas.openxmlformats.org/drawingml/2006/main" noGrp="1"/>
          </p:cNvSpPr>
          <p:nvPr/>
        </p:nvSpPr>
        <p:spPr>
          <a:xfrm xmlns:a="http://schemas.openxmlformats.org/drawingml/2006/main">
            <a:off x="4400550" y="1238250"/>
            <a:ext cx="3390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42B49"/>
                </a:solidFill>
                <a:latin typeface="Arial"/>
                <a:ea typeface="Arial"/>
                <a:cs typeface="Arial"/>
              </a:defRPr>
            </a:pPr>
            <a:r>
              <a:rPr sz="1500" b="1">
                <a:solidFill>
                  <a:srgbClr val="142B49"/>
                </a:solidFill>
                <a:latin typeface="Arial"/>
                <a:ea typeface="Arial"/>
                <a:cs typeface="Arial"/>
              </a:rPr>
              <a:t>Operational Viability</a:t>
            </a:r>
          </a:p>
        </p:txBody>
      </p:sp>
      <p:sp>
        <p:nvSpPr>
          <p:cNvPr id="13" name="card rule 1">
            <a:extLst xmlns:a="http://schemas.openxmlformats.org/drawingml/2006/main">
              <a:ext uri="{FF2B5EF4-FFF2-40B4-BE49-F238E27FC236}">
                <a16:creationId xmlns:a16="http://schemas.microsoft.com/office/drawing/2014/main" id="{C34ACCD7-0601-41CF-9519-B5F7F35E22E8}"/>
              </a:ext>
            </a:extLst>
          </p:cNvPr>
          <p:cNvSpPr>
            <a:spLocks xmlns:a="http://schemas.openxmlformats.org/drawingml/2006/main" noGrp="1"/>
          </p:cNvSpPr>
          <p:nvPr/>
        </p:nvSpPr>
        <p:spPr>
          <a:xfrm xmlns:a="http://schemas.openxmlformats.org/drawingml/2006/main">
            <a:off x="4400550" y="1552575"/>
            <a:ext cx="3390900" cy="0"/>
          </a:xfrm>
          <a:prstGeom xmlns:a="http://schemas.openxmlformats.org/drawingml/2006/main" prst="line">
            <a:avLst/>
          </a:prstGeom>
          <a:noFill xmlns:a="http://schemas.openxmlformats.org/drawingml/2006/main"/>
          <a:ln xmlns:a="http://schemas.openxmlformats.org/drawingml/2006/main" w="9525">
            <a:solidFill>
              <a:srgbClr val="C9DADF"/>
            </a:solidFill>
          </a:ln>
        </p:spPr>
      </p:sp>
      <p:sp>
        <p:nvSpPr>
          <p:cNvPr id="14" name="card body 1">
            <a:extLst xmlns:a="http://schemas.openxmlformats.org/drawingml/2006/main">
              <a:ext uri="{FF2B5EF4-FFF2-40B4-BE49-F238E27FC236}">
                <a16:creationId xmlns:a16="http://schemas.microsoft.com/office/drawing/2014/main" id="{12D1417F-F904-42CC-B31D-FFA47735688D}"/>
              </a:ext>
            </a:extLst>
          </p:cNvPr>
          <p:cNvSpPr>
            <a:spLocks xmlns:a="http://schemas.openxmlformats.org/drawingml/2006/main" noGrp="1"/>
          </p:cNvSpPr>
          <p:nvPr/>
        </p:nvSpPr>
        <p:spPr>
          <a:xfrm xmlns:a="http://schemas.openxmlformats.org/drawingml/2006/main">
            <a:off x="4391025" y="166687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27000" indent="-88900" algn="l">
              <a:spcAft>
                <a:spcPts val="500"/>
              </a:spcAft>
              <a:buChar char="•"/>
              <a:defRPr sz="1177" b="0">
                <a:solidFill>
                  <a:srgbClr val="35475B"/>
                </a:solidFill>
                <a:latin typeface="Arial"/>
                <a:ea typeface="Arial"/>
                <a:cs typeface="Arial"/>
              </a:defRPr>
            </a:pPr>
            <a:r>
              <a:t>A unified dashboard helps users explore warnings, locations and relocation options.</a:t>
            </a:r>
          </a:p>
          <a:p xmlns:a="http://schemas.openxmlformats.org/drawingml/2006/main">
            <a:pPr marL="127000" indent="-88900" algn="l">
              <a:spcAft>
                <a:spcPts val="500"/>
              </a:spcAft>
              <a:buChar char="•"/>
              <a:defRPr sz="1177" b="0">
                <a:solidFill>
                  <a:srgbClr val="35475B"/>
                </a:solidFill>
                <a:latin typeface="Arial"/>
                <a:ea typeface="Arial"/>
                <a:cs typeface="Arial"/>
              </a:defRPr>
            </a:pPr>
            <a:r>
              <a:t>Public data sources and reusable components support an affordable prototype.</a:t>
            </a:r>
          </a:p>
          <a:p xmlns:a="http://schemas.openxmlformats.org/drawingml/2006/main">
            <a:pPr marL="127000" indent="-88900" algn="l">
              <a:spcAft>
                <a:spcPts val="500"/>
              </a:spcAft>
              <a:buChar char="•"/>
              <a:defRPr sz="1177" b="0">
                <a:solidFill>
                  <a:srgbClr val="35475B"/>
                </a:solidFill>
                <a:latin typeface="Arial"/>
                <a:ea typeface="Arial"/>
                <a:cs typeface="Arial"/>
              </a:defRPr>
            </a:pPr>
            <a:r>
              <a:t>Role-based workflows support coordination between field teams and decision-makers.</a:t>
            </a:r>
          </a:p>
        </p:txBody>
      </p:sp>
      <p:sp>
        <p:nvSpPr>
          <p:cNvPr id="15" name="card 3">
            <a:extLst xmlns:a="http://schemas.openxmlformats.org/drawingml/2006/main">
              <a:ext uri="{FF2B5EF4-FFF2-40B4-BE49-F238E27FC236}">
                <a16:creationId xmlns:a16="http://schemas.microsoft.com/office/drawing/2014/main" id="{5BE72565-7688-4200-800C-51C79AB88E90}"/>
              </a:ext>
            </a:extLst>
          </p:cNvPr>
          <p:cNvSpPr>
            <a:spLocks xmlns:a="http://schemas.openxmlformats.org/drawingml/2006/main" noGrp="1"/>
          </p:cNvSpPr>
          <p:nvPr/>
        </p:nvSpPr>
        <p:spPr>
          <a:xfrm xmlns:a="http://schemas.openxmlformats.org/drawingml/2006/main">
            <a:off x="8172450" y="1095375"/>
            <a:ext cx="3733800" cy="1809750"/>
          </a:xfrm>
          <a:prstGeom xmlns:a="http://schemas.openxmlformats.org/drawingml/2006/main" prst="roundRect">
            <a:avLst>
              <a:gd name="adj" fmla="val 6316"/>
            </a:avLst>
          </a:prstGeom>
          <a:solidFill xmlns:a="http://schemas.openxmlformats.org/drawingml/2006/main">
            <a:srgbClr val="F0F5F8"/>
          </a:solidFill>
          <a:ln xmlns:a="http://schemas.openxmlformats.org/drawingml/2006/main" w="9525">
            <a:solidFill>
              <a:srgbClr val="D3DFE6"/>
            </a:solidFill>
          </a:ln>
        </p:spPr>
      </p:sp>
      <p:sp>
        <p:nvSpPr>
          <p:cNvPr id="16" name="card heading 2">
            <a:extLst xmlns:a="http://schemas.openxmlformats.org/drawingml/2006/main">
              <a:ext uri="{FF2B5EF4-FFF2-40B4-BE49-F238E27FC236}">
                <a16:creationId xmlns:a16="http://schemas.microsoft.com/office/drawing/2014/main" id="{FFB8DCE2-8773-4C0B-8E7E-006B6E6C100A}"/>
              </a:ext>
            </a:extLst>
          </p:cNvPr>
          <p:cNvSpPr>
            <a:spLocks xmlns:a="http://schemas.openxmlformats.org/drawingml/2006/main" noGrp="1"/>
          </p:cNvSpPr>
          <p:nvPr/>
        </p:nvSpPr>
        <p:spPr>
          <a:xfrm xmlns:a="http://schemas.openxmlformats.org/drawingml/2006/main">
            <a:off x="8343900" y="1238250"/>
            <a:ext cx="3390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42B49"/>
                </a:solidFill>
                <a:latin typeface="Arial"/>
                <a:ea typeface="Arial"/>
                <a:cs typeface="Arial"/>
              </a:defRPr>
            </a:pPr>
            <a:r>
              <a:rPr sz="1500" b="1">
                <a:solidFill>
                  <a:srgbClr val="142B49"/>
                </a:solidFill>
                <a:latin typeface="Arial"/>
                <a:ea typeface="Arial"/>
                <a:cs typeface="Arial"/>
              </a:rPr>
              <a:t>Practical Implementation</a:t>
            </a:r>
          </a:p>
        </p:txBody>
      </p:sp>
      <p:sp>
        <p:nvSpPr>
          <p:cNvPr id="17" name="card rule 2">
            <a:extLst xmlns:a="http://schemas.openxmlformats.org/drawingml/2006/main">
              <a:ext uri="{FF2B5EF4-FFF2-40B4-BE49-F238E27FC236}">
                <a16:creationId xmlns:a16="http://schemas.microsoft.com/office/drawing/2014/main" id="{BBACE56C-7876-487D-99D4-211408C11C9C}"/>
              </a:ext>
            </a:extLst>
          </p:cNvPr>
          <p:cNvSpPr>
            <a:spLocks xmlns:a="http://schemas.openxmlformats.org/drawingml/2006/main" noGrp="1"/>
          </p:cNvSpPr>
          <p:nvPr/>
        </p:nvSpPr>
        <p:spPr>
          <a:xfrm xmlns:a="http://schemas.openxmlformats.org/drawingml/2006/main">
            <a:off x="8343900" y="1552575"/>
            <a:ext cx="3390900" cy="0"/>
          </a:xfrm>
          <a:prstGeom xmlns:a="http://schemas.openxmlformats.org/drawingml/2006/main" prst="line">
            <a:avLst/>
          </a:prstGeom>
          <a:noFill xmlns:a="http://schemas.openxmlformats.org/drawingml/2006/main"/>
          <a:ln xmlns:a="http://schemas.openxmlformats.org/drawingml/2006/main" w="9525">
            <a:solidFill>
              <a:srgbClr val="C9DADF"/>
            </a:solidFill>
          </a:ln>
        </p:spPr>
      </p:sp>
      <p:sp>
        <p:nvSpPr>
          <p:cNvPr id="18" name="card body 2">
            <a:extLst xmlns:a="http://schemas.openxmlformats.org/drawingml/2006/main">
              <a:ext uri="{FF2B5EF4-FFF2-40B4-BE49-F238E27FC236}">
                <a16:creationId xmlns:a16="http://schemas.microsoft.com/office/drawing/2014/main" id="{7028998F-1E98-4ADE-8BF3-FDC30FB98C75}"/>
              </a:ext>
            </a:extLst>
          </p:cNvPr>
          <p:cNvSpPr>
            <a:spLocks xmlns:a="http://schemas.openxmlformats.org/drawingml/2006/main" noGrp="1"/>
          </p:cNvSpPr>
          <p:nvPr/>
        </p:nvSpPr>
        <p:spPr>
          <a:xfrm xmlns:a="http://schemas.openxmlformats.org/drawingml/2006/main">
            <a:off x="8334375" y="166687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27000" indent="-88900" algn="l">
              <a:spcAft>
                <a:spcPts val="500"/>
              </a:spcAft>
              <a:buChar char="•"/>
              <a:defRPr sz="1177" b="0">
                <a:solidFill>
                  <a:srgbClr val="35475B"/>
                </a:solidFill>
                <a:latin typeface="Arial"/>
                <a:ea typeface="Arial"/>
                <a:cs typeface="Arial"/>
              </a:defRPr>
            </a:pPr>
            <a:r>
              <a:t>Begin with a </a:t>
            </a:r>
            <a:r>
              <a:rPr sz="1177" b="1">
                <a:solidFill>
                  <a:srgbClr val="35475B"/>
                </a:solidFill>
                <a:latin typeface="Arial"/>
                <a:ea typeface="Arial"/>
                <a:cs typeface="Arial"/>
              </a:rPr>
              <a:t>proposed pilot</a:t>
            </a:r>
            <a:r>
              <a:t> in one district.</a:t>
            </a:r>
          </a:p>
          <a:p xmlns:a="http://schemas.openxmlformats.org/drawingml/2006/main">
            <a:pPr marL="127000" indent="-88900" algn="l">
              <a:spcAft>
                <a:spcPts val="500"/>
              </a:spcAft>
              <a:buChar char="•"/>
              <a:defRPr sz="1177" b="0">
                <a:solidFill>
                  <a:srgbClr val="35475B"/>
                </a:solidFill>
                <a:latin typeface="Arial"/>
                <a:ea typeface="Arial"/>
                <a:cs typeface="Arial"/>
              </a:defRPr>
            </a:pPr>
            <a:r>
              <a:t>Validate warning coverage, field assessments and destination capacity with local authorities.</a:t>
            </a:r>
          </a:p>
          <a:p xmlns:a="http://schemas.openxmlformats.org/drawingml/2006/main">
            <a:pPr marL="127000" indent="-88900" algn="l">
              <a:spcAft>
                <a:spcPts val="500"/>
              </a:spcAft>
              <a:buChar char="•"/>
              <a:defRPr sz="1177" b="0">
                <a:solidFill>
                  <a:srgbClr val="35475B"/>
                </a:solidFill>
                <a:latin typeface="Arial"/>
                <a:ea typeface="Arial"/>
                <a:cs typeface="Arial"/>
              </a:defRPr>
            </a:pPr>
            <a:r>
              <a:t>Expand gradually after usability testing and operational feedback.</a:t>
            </a:r>
          </a:p>
        </p:txBody>
      </p:sp>
      <p:sp>
        <p:nvSpPr>
          <p:cNvPr id="19" name="challenges and mitigation container">
            <a:extLst xmlns:a="http://schemas.openxmlformats.org/drawingml/2006/main">
              <a:ext uri="{FF2B5EF4-FFF2-40B4-BE49-F238E27FC236}">
                <a16:creationId xmlns:a16="http://schemas.microsoft.com/office/drawing/2014/main" id="{DD2CAEFD-0A3E-4FA7-B27B-FE1AAA7E8DB9}"/>
              </a:ext>
            </a:extLst>
          </p:cNvPr>
          <p:cNvSpPr>
            <a:spLocks xmlns:a="http://schemas.openxmlformats.org/drawingml/2006/main" noGrp="1"/>
          </p:cNvSpPr>
          <p:nvPr/>
        </p:nvSpPr>
        <p:spPr>
          <a:xfrm xmlns:a="http://schemas.openxmlformats.org/drawingml/2006/main">
            <a:off x="285750" y="3086100"/>
            <a:ext cx="11620500" cy="3448050"/>
          </a:xfrm>
          <a:prstGeom xmlns:a="http://schemas.openxmlformats.org/drawingml/2006/main" prst="roundRect">
            <a:avLst>
              <a:gd name="adj" fmla="val 3315"/>
            </a:avLst>
          </a:prstGeom>
          <a:solidFill xmlns:a="http://schemas.openxmlformats.org/drawingml/2006/main">
            <a:srgbClr val="FFFFFF"/>
          </a:solidFill>
          <a:ln xmlns:a="http://schemas.openxmlformats.org/drawingml/2006/main" w="11430">
            <a:solidFill>
              <a:srgbClr val="D3DFE6"/>
            </a:solidFill>
          </a:ln>
        </p:spPr>
      </p:sp>
      <p:sp>
        <p:nvSpPr>
          <p:cNvPr id="20" name="Potential Challenges and Risks hub">
            <a:extLst xmlns:a="http://schemas.openxmlformats.org/drawingml/2006/main">
              <a:ext uri="{FF2B5EF4-FFF2-40B4-BE49-F238E27FC236}">
                <a16:creationId xmlns:a16="http://schemas.microsoft.com/office/drawing/2014/main" id="{AC34C751-C4AC-4819-9006-1E72DC9EA0B1}"/>
              </a:ext>
            </a:extLst>
          </p:cNvPr>
          <p:cNvSpPr>
            <a:spLocks xmlns:a="http://schemas.openxmlformats.org/drawingml/2006/main" noGrp="1"/>
          </p:cNvSpPr>
          <p:nvPr/>
        </p:nvSpPr>
        <p:spPr>
          <a:xfrm xmlns:a="http://schemas.openxmlformats.org/drawingml/2006/main">
            <a:off x="409575" y="4229100"/>
            <a:ext cx="1257300" cy="1257300"/>
          </a:xfrm>
          <a:prstGeom xmlns:a="http://schemas.openxmlformats.org/drawingml/2006/main" prst="ellipse">
            <a:avLst/>
          </a:prstGeom>
          <a:solidFill xmlns:a="http://schemas.openxmlformats.org/drawingml/2006/main">
            <a:srgbClr val="FCF0F0"/>
          </a:solidFill>
          <a:ln xmlns:a="http://schemas.openxmlformats.org/drawingml/2006/main" w="14288">
            <a:solidFill>
              <a:srgbClr val="E6B7B9"/>
            </a:solidFill>
          </a:ln>
        </p:spPr>
      </p:sp>
      <p:sp>
        <p:nvSpPr>
          <p:cNvPr id="21" name="Strategies to Address Challenges hub">
            <a:extLst xmlns:a="http://schemas.openxmlformats.org/drawingml/2006/main">
              <a:ext uri="{FF2B5EF4-FFF2-40B4-BE49-F238E27FC236}">
                <a16:creationId xmlns:a16="http://schemas.microsoft.com/office/drawing/2014/main" id="{94B6D460-E724-4B09-8A70-9299D210AA7F}"/>
              </a:ext>
            </a:extLst>
          </p:cNvPr>
          <p:cNvSpPr>
            <a:spLocks xmlns:a="http://schemas.openxmlformats.org/drawingml/2006/main" noGrp="1"/>
          </p:cNvSpPr>
          <p:nvPr/>
        </p:nvSpPr>
        <p:spPr>
          <a:xfrm xmlns:a="http://schemas.openxmlformats.org/drawingml/2006/main">
            <a:off x="10525125" y="4229100"/>
            <a:ext cx="1257300" cy="1257300"/>
          </a:xfrm>
          <a:prstGeom xmlns:a="http://schemas.openxmlformats.org/drawingml/2006/main" prst="ellipse">
            <a:avLst/>
          </a:prstGeom>
          <a:solidFill xmlns:a="http://schemas.openxmlformats.org/drawingml/2006/main">
            <a:srgbClr val="EEF8F2"/>
          </a:solidFill>
          <a:ln xmlns:a="http://schemas.openxmlformats.org/drawingml/2006/main" w="14288">
            <a:solidFill>
              <a:srgbClr val="A8D2BD"/>
            </a:solidFill>
          </a:ln>
        </p:spPr>
      </p:sp>
      <p:sp>
        <p:nvSpPr>
          <p:cNvPr id="22" name="shield warning">
            <a:extLst xmlns:a="http://schemas.openxmlformats.org/drawingml/2006/main">
              <a:ext uri="{FF2B5EF4-FFF2-40B4-BE49-F238E27FC236}">
                <a16:creationId xmlns:a16="http://schemas.microsoft.com/office/drawing/2014/main" id="{CA79D458-3403-4A84-B783-722AC813A06D}"/>
              </a:ext>
            </a:extLst>
          </p:cNvPr>
          <p:cNvSpPr>
            <a:spLocks xmlns:a="http://schemas.openxmlformats.org/drawingml/2006/main" noGrp="1"/>
          </p:cNvSpPr>
          <p:nvPr/>
        </p:nvSpPr>
        <p:spPr>
          <a:xfrm xmlns:a="http://schemas.openxmlformats.org/drawingml/2006/main">
            <a:off x="876300" y="4371975"/>
            <a:ext cx="323850" cy="361950"/>
          </a:xfrm>
          <a:custGeom xmlns:a="http://schemas.openxmlformats.org/drawingml/2006/main">
            <a:pathLst>
              <a:path w="323850" h="361950">
                <a:moveTo>
                  <a:pt x="161925" y="0"/>
                </a:moveTo>
                <a:lnTo>
                  <a:pt x="323850" y="57150"/>
                </a:lnTo>
                <a:lnTo>
                  <a:pt x="295275" y="257175"/>
                </a:lnTo>
                <a:lnTo>
                  <a:pt x="161925" y="361950"/>
                </a:lnTo>
                <a:lnTo>
                  <a:pt x="28575" y="257175"/>
                </a:lnTo>
                <a:lnTo>
                  <a:pt x="0" y="57150"/>
                </a:lnTo>
                <a:close/>
              </a:path>
            </a:pathLst>
          </a:custGeom>
          <a:noFill xmlns:a="http://schemas.openxmlformats.org/drawingml/2006/main"/>
          <a:ln xmlns:a="http://schemas.openxmlformats.org/drawingml/2006/main" w="19050">
            <a:solidFill>
              <a:srgbClr val="C44246"/>
            </a:solidFill>
          </a:ln>
        </p:spPr>
      </p:sp>
      <p:sp>
        <p:nvSpPr>
          <p:cNvPr id="23" name="warning mark">
            <a:extLst xmlns:a="http://schemas.openxmlformats.org/drawingml/2006/main">
              <a:ext uri="{FF2B5EF4-FFF2-40B4-BE49-F238E27FC236}">
                <a16:creationId xmlns:a16="http://schemas.microsoft.com/office/drawing/2014/main" id="{1AB8F72B-A7D2-400E-B1B1-3D80D02EAFD8}"/>
              </a:ext>
            </a:extLst>
          </p:cNvPr>
          <p:cNvSpPr>
            <a:spLocks xmlns:a="http://schemas.openxmlformats.org/drawingml/2006/main" noGrp="1"/>
          </p:cNvSpPr>
          <p:nvPr/>
        </p:nvSpPr>
        <p:spPr>
          <a:xfrm xmlns:a="http://schemas.openxmlformats.org/drawingml/2006/main">
            <a:off x="942975" y="4419600"/>
            <a:ext cx="190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C44246"/>
                </a:solidFill>
                <a:latin typeface="Arial"/>
                <a:ea typeface="Arial"/>
                <a:cs typeface="Arial"/>
              </a:defRPr>
            </a:pPr>
            <a:r>
              <a:rPr sz="1950" b="1">
                <a:solidFill>
                  <a:srgbClr val="C44246"/>
                </a:solidFill>
                <a:latin typeface="Arial"/>
                <a:ea typeface="Arial"/>
                <a:cs typeface="Arial"/>
              </a:rPr>
              <a:t>!</a:t>
            </a:r>
          </a:p>
        </p:txBody>
      </p:sp>
      <p:sp>
        <p:nvSpPr>
          <p:cNvPr id="24" name="shield check">
            <a:extLst xmlns:a="http://schemas.openxmlformats.org/drawingml/2006/main">
              <a:ext uri="{FF2B5EF4-FFF2-40B4-BE49-F238E27FC236}">
                <a16:creationId xmlns:a16="http://schemas.microsoft.com/office/drawing/2014/main" id="{E0406454-E32B-4249-A575-9AD9865007D5}"/>
              </a:ext>
            </a:extLst>
          </p:cNvPr>
          <p:cNvSpPr>
            <a:spLocks xmlns:a="http://schemas.openxmlformats.org/drawingml/2006/main" noGrp="1"/>
          </p:cNvSpPr>
          <p:nvPr/>
        </p:nvSpPr>
        <p:spPr>
          <a:xfrm xmlns:a="http://schemas.openxmlformats.org/drawingml/2006/main">
            <a:off x="10991850" y="4371975"/>
            <a:ext cx="323850" cy="361950"/>
          </a:xfrm>
          <a:custGeom xmlns:a="http://schemas.openxmlformats.org/drawingml/2006/main">
            <a:pathLst>
              <a:path w="323850" h="361950">
                <a:moveTo>
                  <a:pt x="161925" y="0"/>
                </a:moveTo>
                <a:lnTo>
                  <a:pt x="323850" y="57150"/>
                </a:lnTo>
                <a:lnTo>
                  <a:pt x="295275" y="257175"/>
                </a:lnTo>
                <a:lnTo>
                  <a:pt x="161925" y="361950"/>
                </a:lnTo>
                <a:lnTo>
                  <a:pt x="28575" y="257175"/>
                </a:lnTo>
                <a:lnTo>
                  <a:pt x="0" y="57150"/>
                </a:lnTo>
                <a:close/>
              </a:path>
            </a:pathLst>
          </a:custGeom>
          <a:noFill xmlns:a="http://schemas.openxmlformats.org/drawingml/2006/main"/>
          <a:ln xmlns:a="http://schemas.openxmlformats.org/drawingml/2006/main" w="19050">
            <a:solidFill>
              <a:srgbClr val="20835B"/>
            </a:solidFill>
          </a:ln>
        </p:spPr>
      </p:sp>
      <p:sp>
        <p:nvSpPr>
          <p:cNvPr id="25" name="check mark">
            <a:extLst xmlns:a="http://schemas.openxmlformats.org/drawingml/2006/main">
              <a:ext uri="{FF2B5EF4-FFF2-40B4-BE49-F238E27FC236}">
                <a16:creationId xmlns:a16="http://schemas.microsoft.com/office/drawing/2014/main" id="{5AC5D715-9A8C-4799-8C8B-5A45738FDC40}"/>
              </a:ext>
            </a:extLst>
          </p:cNvPr>
          <p:cNvSpPr>
            <a:spLocks xmlns:a="http://schemas.openxmlformats.org/drawingml/2006/main" noGrp="1"/>
          </p:cNvSpPr>
          <p:nvPr/>
        </p:nvSpPr>
        <p:spPr>
          <a:xfrm xmlns:a="http://schemas.openxmlformats.org/drawingml/2006/main">
            <a:off x="11077575" y="4486275"/>
            <a:ext cx="171450" cy="133350"/>
          </a:xfrm>
          <a:custGeom xmlns:a="http://schemas.openxmlformats.org/drawingml/2006/main">
            <a:pathLst>
              <a:path w="171450" h="133350">
                <a:moveTo>
                  <a:pt x="0" y="57150"/>
                </a:moveTo>
                <a:lnTo>
                  <a:pt x="57150" y="114300"/>
                </a:lnTo>
                <a:lnTo>
                  <a:pt x="171450" y="0"/>
                </a:lnTo>
              </a:path>
            </a:pathLst>
          </a:custGeom>
          <a:noFill xmlns:a="http://schemas.openxmlformats.org/drawingml/2006/main"/>
          <a:ln xmlns:a="http://schemas.openxmlformats.org/drawingml/2006/main" w="23813">
            <a:solidFill>
              <a:srgbClr val="20835B"/>
            </a:solidFill>
          </a:ln>
        </p:spPr>
      </p:sp>
      <p:sp>
        <p:nvSpPr>
          <p:cNvPr id="26" name="challenge hub label">
            <a:extLst xmlns:a="http://schemas.openxmlformats.org/drawingml/2006/main">
              <a:ext uri="{FF2B5EF4-FFF2-40B4-BE49-F238E27FC236}">
                <a16:creationId xmlns:a16="http://schemas.microsoft.com/office/drawing/2014/main" id="{3A597D3F-C3FD-432B-BB49-B261B014EF4A}"/>
              </a:ext>
            </a:extLst>
          </p:cNvPr>
          <p:cNvSpPr>
            <a:spLocks xmlns:a="http://schemas.openxmlformats.org/drawingml/2006/main" noGrp="1"/>
          </p:cNvSpPr>
          <p:nvPr/>
        </p:nvSpPr>
        <p:spPr>
          <a:xfrm xmlns:a="http://schemas.openxmlformats.org/drawingml/2006/main">
            <a:off x="466725" y="481965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85" b="1">
                <a:solidFill>
                  <a:srgbClr val="142B49"/>
                </a:solidFill>
                <a:latin typeface="Arial"/>
                <a:ea typeface="Arial"/>
                <a:cs typeface="Arial"/>
              </a:defRPr>
            </a:pPr>
            <a:r>
              <a:rPr sz="1185" b="1">
                <a:solidFill>
                  <a:srgbClr val="142B49"/>
                </a:solidFill>
                <a:latin typeface="Arial"/>
                <a:ea typeface="Arial"/>
                <a:cs typeface="Arial"/>
              </a:rPr>
              <a:t>Potential</a:t>
            </a:r>
          </a:p>
          <a:p xmlns:a="http://schemas.openxmlformats.org/drawingml/2006/main">
            <a:pPr algn="ctr">
              <a:defRPr sz="1185" b="1">
                <a:solidFill>
                  <a:srgbClr val="142B49"/>
                </a:solidFill>
                <a:latin typeface="Arial"/>
                <a:ea typeface="Arial"/>
                <a:cs typeface="Arial"/>
              </a:defRPr>
            </a:pPr>
            <a:r>
              <a:rPr sz="1185" b="1">
                <a:solidFill>
                  <a:srgbClr val="142B49"/>
                </a:solidFill>
                <a:latin typeface="Arial"/>
                <a:ea typeface="Arial"/>
                <a:cs typeface="Arial"/>
              </a:rPr>
              <a:t>Challenges &amp; Risks</a:t>
            </a:r>
          </a:p>
        </p:txBody>
      </p:sp>
      <p:sp>
        <p:nvSpPr>
          <p:cNvPr id="27" name="strategy hub label">
            <a:extLst xmlns:a="http://schemas.openxmlformats.org/drawingml/2006/main">
              <a:ext uri="{FF2B5EF4-FFF2-40B4-BE49-F238E27FC236}">
                <a16:creationId xmlns:a16="http://schemas.microsoft.com/office/drawing/2014/main" id="{BF1A80BC-4989-4C58-9662-0C6A6C0FECCA}"/>
              </a:ext>
            </a:extLst>
          </p:cNvPr>
          <p:cNvSpPr>
            <a:spLocks xmlns:a="http://schemas.openxmlformats.org/drawingml/2006/main" noGrp="1"/>
          </p:cNvSpPr>
          <p:nvPr/>
        </p:nvSpPr>
        <p:spPr>
          <a:xfrm xmlns:a="http://schemas.openxmlformats.org/drawingml/2006/main">
            <a:off x="10572750" y="4819650"/>
            <a:ext cx="1162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85" b="1">
                <a:solidFill>
                  <a:srgbClr val="142B49"/>
                </a:solidFill>
                <a:latin typeface="Arial"/>
                <a:ea typeface="Arial"/>
                <a:cs typeface="Arial"/>
              </a:defRPr>
            </a:pPr>
            <a:r>
              <a:rPr sz="1185" b="1">
                <a:solidFill>
                  <a:srgbClr val="142B49"/>
                </a:solidFill>
                <a:latin typeface="Arial"/>
                <a:ea typeface="Arial"/>
                <a:cs typeface="Arial"/>
              </a:rPr>
              <a:t>Strategies to</a:t>
            </a:r>
          </a:p>
          <a:p xmlns:a="http://schemas.openxmlformats.org/drawingml/2006/main">
            <a:pPr algn="ctr">
              <a:defRPr sz="1185" b="1">
                <a:solidFill>
                  <a:srgbClr val="142B49"/>
                </a:solidFill>
                <a:latin typeface="Arial"/>
                <a:ea typeface="Arial"/>
                <a:cs typeface="Arial"/>
              </a:defRPr>
            </a:pPr>
            <a:r>
              <a:rPr sz="1185" b="1">
                <a:solidFill>
                  <a:srgbClr val="142B49"/>
                </a:solidFill>
                <a:latin typeface="Arial"/>
                <a:ea typeface="Arial"/>
                <a:cs typeface="Arial"/>
              </a:rPr>
              <a:t>Address Challenges</a:t>
            </a:r>
          </a:p>
        </p:txBody>
      </p:sp>
      <p:sp>
        <p:nvSpPr>
          <p:cNvPr id="28" name="risk node 01">
            <a:extLst xmlns:a="http://schemas.openxmlformats.org/drawingml/2006/main">
              <a:ext uri="{FF2B5EF4-FFF2-40B4-BE49-F238E27FC236}">
                <a16:creationId xmlns:a16="http://schemas.microsoft.com/office/drawing/2014/main" id="{921BE4B7-4B68-448A-97BA-6446B77A4412}"/>
              </a:ext>
            </a:extLst>
          </p:cNvPr>
          <p:cNvSpPr>
            <a:spLocks xmlns:a="http://schemas.openxmlformats.org/drawingml/2006/main" noGrp="1"/>
          </p:cNvSpPr>
          <p:nvPr/>
        </p:nvSpPr>
        <p:spPr>
          <a:xfrm xmlns:a="http://schemas.openxmlformats.org/drawingml/2006/main">
            <a:off x="1809750" y="3314700"/>
            <a:ext cx="323850" cy="323850"/>
          </a:xfrm>
          <a:prstGeom xmlns:a="http://schemas.openxmlformats.org/drawingml/2006/main" prst="ellipse">
            <a:avLst/>
          </a:prstGeom>
          <a:solidFill xmlns:a="http://schemas.openxmlformats.org/drawingml/2006/main">
            <a:srgbClr val="C44246"/>
          </a:solidFill>
          <a:ln xmlns:a="http://schemas.openxmlformats.org/drawingml/2006/main" w="0">
            <a:noFill/>
          </a:ln>
        </p:spPr>
      </p:sp>
      <p:sp>
        <p:nvSpPr>
          <p:cNvPr id="29" name="solution node 01">
            <a:extLst xmlns:a="http://schemas.openxmlformats.org/drawingml/2006/main">
              <a:ext uri="{FF2B5EF4-FFF2-40B4-BE49-F238E27FC236}">
                <a16:creationId xmlns:a16="http://schemas.microsoft.com/office/drawing/2014/main" id="{282DE440-FD00-4698-9EF0-DD428C8412D2}"/>
              </a:ext>
            </a:extLst>
          </p:cNvPr>
          <p:cNvSpPr>
            <a:spLocks xmlns:a="http://schemas.openxmlformats.org/drawingml/2006/main" noGrp="1"/>
          </p:cNvSpPr>
          <p:nvPr/>
        </p:nvSpPr>
        <p:spPr>
          <a:xfrm xmlns:a="http://schemas.openxmlformats.org/drawingml/2006/main">
            <a:off x="10058400" y="3314700"/>
            <a:ext cx="323850" cy="323850"/>
          </a:xfrm>
          <a:prstGeom xmlns:a="http://schemas.openxmlformats.org/drawingml/2006/main" prst="ellipse">
            <a:avLst/>
          </a:prstGeom>
          <a:solidFill xmlns:a="http://schemas.openxmlformats.org/drawingml/2006/main">
            <a:srgbClr val="20835B"/>
          </a:solidFill>
          <a:ln xmlns:a="http://schemas.openxmlformats.org/drawingml/2006/main" w="0">
            <a:noFill/>
          </a:ln>
        </p:spPr>
      </p:sp>
      <p:cxnSp>
        <p:nvCxnSpPr>
          <p:cNvPr id="113" name=""/>
          <p:cNvCxnSpPr>
            <a:stCxn xmlns:a="http://schemas.openxmlformats.org/drawingml/2006/main" id="20" idx="6"/>
            <a:endCxn xmlns:a="http://schemas.openxmlformats.org/drawingml/2006/main" id="28" idx="2"/>
          </p:cNvCxnSpPr>
          <p:nvPr/>
        </p:nvCxnSpPr>
        <p:spPr>
          <a:xfrm xmlns:a="http://schemas.openxmlformats.org/drawingml/2006/main" flipV="1">
            <a:off x="1666875" y="3476625"/>
            <a:ext cx="142875" cy="1381125"/>
          </a:xfrm>
          <a:prstGeom xmlns:a="http://schemas.openxmlformats.org/drawingml/2006/main" prst="bentConnector3">
            <a:avLst>
              <a:gd name="adj1" fmla="val 50000"/>
            </a:avLst>
          </a:prstGeom>
          <a:ln xmlns:a="http://schemas.openxmlformats.org/drawingml/2006/main" w="9525">
            <a:solidFill>
              <a:srgbClr val="DDA8AA"/>
            </a:solidFill>
          </a:ln>
        </p:spPr>
      </p:cxnSp>
      <p:cxnSp>
        <p:nvCxnSpPr>
          <p:cNvPr id="114" name=""/>
          <p:cNvCxnSpPr>
            <a:stCxn xmlns:a="http://schemas.openxmlformats.org/drawingml/2006/main" id="29" idx="6"/>
            <a:endCxn xmlns:a="http://schemas.openxmlformats.org/drawingml/2006/main" id="21" idx="2"/>
          </p:cNvCxnSpPr>
          <p:nvPr/>
        </p:nvCxnSpPr>
        <p:spPr>
          <a:xfrm xmlns:a="http://schemas.openxmlformats.org/drawingml/2006/main">
            <a:off x="10382250" y="3476625"/>
            <a:ext cx="142875" cy="1381125"/>
          </a:xfrm>
          <a:prstGeom xmlns:a="http://schemas.openxmlformats.org/drawingml/2006/main" prst="bentConnector3">
            <a:avLst>
              <a:gd name="adj1" fmla="val 50000"/>
            </a:avLst>
          </a:prstGeom>
          <a:ln xmlns:a="http://schemas.openxmlformats.org/drawingml/2006/main" w="9525">
            <a:solidFill>
              <a:srgbClr val="9BC8B1"/>
            </a:solidFill>
          </a:ln>
        </p:spPr>
      </p:cxnSp>
      <p:sp>
        <p:nvSpPr>
          <p:cNvPr id="32" name="risk number 01">
            <a:extLst xmlns:a="http://schemas.openxmlformats.org/drawingml/2006/main">
              <a:ext uri="{FF2B5EF4-FFF2-40B4-BE49-F238E27FC236}">
                <a16:creationId xmlns:a16="http://schemas.microsoft.com/office/drawing/2014/main" id="{9AE09258-2E77-4383-B72A-D7DE82CEE196}"/>
              </a:ext>
            </a:extLst>
          </p:cNvPr>
          <p:cNvSpPr>
            <a:spLocks xmlns:a="http://schemas.openxmlformats.org/drawingml/2006/main" noGrp="1"/>
          </p:cNvSpPr>
          <p:nvPr/>
        </p:nvSpPr>
        <p:spPr>
          <a:xfrm xmlns:a="http://schemas.openxmlformats.org/drawingml/2006/main">
            <a:off x="1809750" y="33766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33" name="solution number 01">
            <a:extLst xmlns:a="http://schemas.openxmlformats.org/drawingml/2006/main">
              <a:ext uri="{FF2B5EF4-FFF2-40B4-BE49-F238E27FC236}">
                <a16:creationId xmlns:a16="http://schemas.microsoft.com/office/drawing/2014/main" id="{7DE50568-51F6-4DBF-9D26-7E8E6F634BED}"/>
              </a:ext>
            </a:extLst>
          </p:cNvPr>
          <p:cNvSpPr>
            <a:spLocks xmlns:a="http://schemas.openxmlformats.org/drawingml/2006/main" noGrp="1"/>
          </p:cNvSpPr>
          <p:nvPr/>
        </p:nvSpPr>
        <p:spPr>
          <a:xfrm xmlns:a="http://schemas.openxmlformats.org/drawingml/2006/main">
            <a:off x="10058400" y="33766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34" name="risk heading 01">
            <a:extLst xmlns:a="http://schemas.openxmlformats.org/drawingml/2006/main">
              <a:ext uri="{FF2B5EF4-FFF2-40B4-BE49-F238E27FC236}">
                <a16:creationId xmlns:a16="http://schemas.microsoft.com/office/drawing/2014/main" id="{578AAD72-3B19-4A15-BB4E-DC1BC4CBABC4}"/>
              </a:ext>
            </a:extLst>
          </p:cNvPr>
          <p:cNvSpPr>
            <a:spLocks xmlns:a="http://schemas.openxmlformats.org/drawingml/2006/main" noGrp="1"/>
          </p:cNvSpPr>
          <p:nvPr/>
        </p:nvSpPr>
        <p:spPr>
          <a:xfrm xmlns:a="http://schemas.openxmlformats.org/drawingml/2006/main">
            <a:off x="2257425" y="3209925"/>
            <a:ext cx="347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42B49"/>
                </a:solidFill>
                <a:latin typeface="Arial"/>
                <a:ea typeface="Arial"/>
                <a:cs typeface="Arial"/>
              </a:defRPr>
            </a:pPr>
            <a:r>
              <a:rPr sz="1275" b="1">
                <a:solidFill>
                  <a:srgbClr val="142B49"/>
                </a:solidFill>
                <a:latin typeface="Arial"/>
                <a:ea typeface="Arial"/>
                <a:cs typeface="Arial"/>
              </a:rPr>
              <a:t>Data Availability</a:t>
            </a:r>
          </a:p>
        </p:txBody>
      </p:sp>
      <p:sp>
        <p:nvSpPr>
          <p:cNvPr id="35" name="risk detail 01">
            <a:extLst xmlns:a="http://schemas.openxmlformats.org/drawingml/2006/main">
              <a:ext uri="{FF2B5EF4-FFF2-40B4-BE49-F238E27FC236}">
                <a16:creationId xmlns:a16="http://schemas.microsoft.com/office/drawing/2014/main" id="{69449ABD-9C2D-49D3-80EC-AE28EC01BE3A}"/>
              </a:ext>
            </a:extLst>
          </p:cNvPr>
          <p:cNvSpPr>
            <a:spLocks xmlns:a="http://schemas.openxmlformats.org/drawingml/2006/main" noGrp="1"/>
          </p:cNvSpPr>
          <p:nvPr/>
        </p:nvSpPr>
        <p:spPr>
          <a:xfrm xmlns:a="http://schemas.openxmlformats.org/drawingml/2006/main">
            <a:off x="2257425" y="3438525"/>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Official feeds may be delayed or lack precise warning boundaries.</a:t>
            </a:r>
          </a:p>
        </p:txBody>
      </p:sp>
      <p:sp>
        <p:nvSpPr>
          <p:cNvPr id="36" name="strategy 01">
            <a:extLst xmlns:a="http://schemas.openxmlformats.org/drawingml/2006/main">
              <a:ext uri="{FF2B5EF4-FFF2-40B4-BE49-F238E27FC236}">
                <a16:creationId xmlns:a16="http://schemas.microsoft.com/office/drawing/2014/main" id="{5717D60D-F58C-4DF4-8C41-F25A59DEBC95}"/>
              </a:ext>
            </a:extLst>
          </p:cNvPr>
          <p:cNvSpPr>
            <a:spLocks xmlns:a="http://schemas.openxmlformats.org/drawingml/2006/main" noGrp="1"/>
          </p:cNvSpPr>
          <p:nvPr/>
        </p:nvSpPr>
        <p:spPr>
          <a:xfrm xmlns:a="http://schemas.openxmlformats.org/drawingml/2006/main">
            <a:off x="6457950" y="3267075"/>
            <a:ext cx="346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Show source timestamps, availability status and clearly labeled regional references.</a:t>
            </a:r>
          </a:p>
        </p:txBody>
      </p:sp>
      <p:sp>
        <p:nvSpPr>
          <p:cNvPr id="37" name="risk to mitigation arrow 01">
            <a:extLst xmlns:a="http://schemas.openxmlformats.org/drawingml/2006/main">
              <a:ext uri="{FF2B5EF4-FFF2-40B4-BE49-F238E27FC236}">
                <a16:creationId xmlns:a16="http://schemas.microsoft.com/office/drawing/2014/main" id="{553BD8F9-7FEF-4067-9CAA-7086033A4E9F}"/>
              </a:ext>
            </a:extLst>
          </p:cNvPr>
          <p:cNvSpPr>
            <a:spLocks xmlns:a="http://schemas.openxmlformats.org/drawingml/2006/main" noGrp="1"/>
          </p:cNvSpPr>
          <p:nvPr/>
        </p:nvSpPr>
        <p:spPr>
          <a:xfrm xmlns:a="http://schemas.openxmlformats.org/drawingml/2006/main">
            <a:off x="5905500" y="3429000"/>
            <a:ext cx="352425" cy="95250"/>
          </a:xfrm>
          <a:prstGeom xmlns:a="http://schemas.openxmlformats.org/drawingml/2006/main" prst="rightArrow">
            <a:avLst/>
          </a:prstGeom>
          <a:solidFill xmlns:a="http://schemas.openxmlformats.org/drawingml/2006/main">
            <a:srgbClr val="A6BBC5"/>
          </a:solidFill>
          <a:ln xmlns:a="http://schemas.openxmlformats.org/drawingml/2006/main" w="0">
            <a:noFill/>
          </a:ln>
        </p:spPr>
      </p:sp>
      <p:sp>
        <p:nvSpPr>
          <p:cNvPr id="38" name="row divider 1">
            <a:extLst xmlns:a="http://schemas.openxmlformats.org/drawingml/2006/main">
              <a:ext uri="{FF2B5EF4-FFF2-40B4-BE49-F238E27FC236}">
                <a16:creationId xmlns:a16="http://schemas.microsoft.com/office/drawing/2014/main" id="{1D6CCEC3-1A36-440B-80EA-49608965D189}"/>
              </a:ext>
            </a:extLst>
          </p:cNvPr>
          <p:cNvSpPr>
            <a:spLocks xmlns:a="http://schemas.openxmlformats.org/drawingml/2006/main" noGrp="1"/>
          </p:cNvSpPr>
          <p:nvPr/>
        </p:nvSpPr>
        <p:spPr>
          <a:xfrm xmlns:a="http://schemas.openxmlformats.org/drawingml/2006/main">
            <a:off x="2238375" y="3790950"/>
            <a:ext cx="7715250" cy="0"/>
          </a:xfrm>
          <a:prstGeom xmlns:a="http://schemas.openxmlformats.org/drawingml/2006/main" prst="line">
            <a:avLst/>
          </a:prstGeom>
          <a:noFill xmlns:a="http://schemas.openxmlformats.org/drawingml/2006/main"/>
          <a:ln xmlns:a="http://schemas.openxmlformats.org/drawingml/2006/main" w="6668">
            <a:solidFill>
              <a:srgbClr val="EAF0F3"/>
            </a:solidFill>
          </a:ln>
        </p:spPr>
      </p:sp>
      <p:sp>
        <p:nvSpPr>
          <p:cNvPr id="39" name="risk node 02">
            <a:extLst xmlns:a="http://schemas.openxmlformats.org/drawingml/2006/main">
              <a:ext uri="{FF2B5EF4-FFF2-40B4-BE49-F238E27FC236}">
                <a16:creationId xmlns:a16="http://schemas.microsoft.com/office/drawing/2014/main" id="{A406F942-FAC9-4CDF-B9D2-07120E9596A6}"/>
              </a:ext>
            </a:extLst>
          </p:cNvPr>
          <p:cNvSpPr>
            <a:spLocks xmlns:a="http://schemas.openxmlformats.org/drawingml/2006/main" noGrp="1"/>
          </p:cNvSpPr>
          <p:nvPr/>
        </p:nvSpPr>
        <p:spPr>
          <a:xfrm xmlns:a="http://schemas.openxmlformats.org/drawingml/2006/main">
            <a:off x="1809750" y="3962400"/>
            <a:ext cx="323850" cy="323850"/>
          </a:xfrm>
          <a:prstGeom xmlns:a="http://schemas.openxmlformats.org/drawingml/2006/main" prst="ellipse">
            <a:avLst/>
          </a:prstGeom>
          <a:solidFill xmlns:a="http://schemas.openxmlformats.org/drawingml/2006/main">
            <a:srgbClr val="C44246"/>
          </a:solidFill>
          <a:ln xmlns:a="http://schemas.openxmlformats.org/drawingml/2006/main" w="0">
            <a:noFill/>
          </a:ln>
        </p:spPr>
      </p:sp>
      <p:sp>
        <p:nvSpPr>
          <p:cNvPr id="40" name="solution node 02">
            <a:extLst xmlns:a="http://schemas.openxmlformats.org/drawingml/2006/main">
              <a:ext uri="{FF2B5EF4-FFF2-40B4-BE49-F238E27FC236}">
                <a16:creationId xmlns:a16="http://schemas.microsoft.com/office/drawing/2014/main" id="{AC993748-0285-4AE1-93CA-BE287F5E99EC}"/>
              </a:ext>
            </a:extLst>
          </p:cNvPr>
          <p:cNvSpPr>
            <a:spLocks xmlns:a="http://schemas.openxmlformats.org/drawingml/2006/main" noGrp="1"/>
          </p:cNvSpPr>
          <p:nvPr/>
        </p:nvSpPr>
        <p:spPr>
          <a:xfrm xmlns:a="http://schemas.openxmlformats.org/drawingml/2006/main">
            <a:off x="10058400" y="3962400"/>
            <a:ext cx="323850" cy="323850"/>
          </a:xfrm>
          <a:prstGeom xmlns:a="http://schemas.openxmlformats.org/drawingml/2006/main" prst="ellipse">
            <a:avLst/>
          </a:prstGeom>
          <a:solidFill xmlns:a="http://schemas.openxmlformats.org/drawingml/2006/main">
            <a:srgbClr val="20835B"/>
          </a:solidFill>
          <a:ln xmlns:a="http://schemas.openxmlformats.org/drawingml/2006/main" w="0">
            <a:noFill/>
          </a:ln>
        </p:spPr>
      </p:sp>
      <p:cxnSp>
        <p:nvCxnSpPr>
          <p:cNvPr id="124" name=""/>
          <p:cNvCxnSpPr>
            <a:stCxn xmlns:a="http://schemas.openxmlformats.org/drawingml/2006/main" id="20" idx="6"/>
            <a:endCxn xmlns:a="http://schemas.openxmlformats.org/drawingml/2006/main" id="39" idx="2"/>
          </p:cNvCxnSpPr>
          <p:nvPr/>
        </p:nvCxnSpPr>
        <p:spPr>
          <a:xfrm xmlns:a="http://schemas.openxmlformats.org/drawingml/2006/main" flipV="1">
            <a:off x="1666875" y="4124325"/>
            <a:ext cx="142875" cy="733425"/>
          </a:xfrm>
          <a:prstGeom xmlns:a="http://schemas.openxmlformats.org/drawingml/2006/main" prst="bentConnector3">
            <a:avLst>
              <a:gd name="adj1" fmla="val 50000"/>
            </a:avLst>
          </a:prstGeom>
          <a:ln xmlns:a="http://schemas.openxmlformats.org/drawingml/2006/main" w="9525">
            <a:solidFill>
              <a:srgbClr val="DDA8AA"/>
            </a:solidFill>
          </a:ln>
        </p:spPr>
      </p:cxnSp>
      <p:cxnSp>
        <p:nvCxnSpPr>
          <p:cNvPr id="125" name=""/>
          <p:cNvCxnSpPr>
            <a:stCxn xmlns:a="http://schemas.openxmlformats.org/drawingml/2006/main" id="40" idx="6"/>
            <a:endCxn xmlns:a="http://schemas.openxmlformats.org/drawingml/2006/main" id="21" idx="2"/>
          </p:cNvCxnSpPr>
          <p:nvPr/>
        </p:nvCxnSpPr>
        <p:spPr>
          <a:xfrm xmlns:a="http://schemas.openxmlformats.org/drawingml/2006/main">
            <a:off x="10382250" y="4124325"/>
            <a:ext cx="142875" cy="733425"/>
          </a:xfrm>
          <a:prstGeom xmlns:a="http://schemas.openxmlformats.org/drawingml/2006/main" prst="bentConnector3">
            <a:avLst>
              <a:gd name="adj1" fmla="val 50000"/>
            </a:avLst>
          </a:prstGeom>
          <a:ln xmlns:a="http://schemas.openxmlformats.org/drawingml/2006/main" w="9525">
            <a:solidFill>
              <a:srgbClr val="9BC8B1"/>
            </a:solidFill>
          </a:ln>
        </p:spPr>
      </p:cxnSp>
      <p:sp>
        <p:nvSpPr>
          <p:cNvPr id="43" name="risk number 02">
            <a:extLst xmlns:a="http://schemas.openxmlformats.org/drawingml/2006/main">
              <a:ext uri="{FF2B5EF4-FFF2-40B4-BE49-F238E27FC236}">
                <a16:creationId xmlns:a16="http://schemas.microsoft.com/office/drawing/2014/main" id="{39AA2C03-4C03-426E-B7C7-1F83B7867B21}"/>
              </a:ext>
            </a:extLst>
          </p:cNvPr>
          <p:cNvSpPr>
            <a:spLocks xmlns:a="http://schemas.openxmlformats.org/drawingml/2006/main" noGrp="1"/>
          </p:cNvSpPr>
          <p:nvPr/>
        </p:nvSpPr>
        <p:spPr>
          <a:xfrm xmlns:a="http://schemas.openxmlformats.org/drawingml/2006/main">
            <a:off x="1809750" y="40243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44" name="solution number 02">
            <a:extLst xmlns:a="http://schemas.openxmlformats.org/drawingml/2006/main">
              <a:ext uri="{FF2B5EF4-FFF2-40B4-BE49-F238E27FC236}">
                <a16:creationId xmlns:a16="http://schemas.microsoft.com/office/drawing/2014/main" id="{5A9283EA-4BB3-43F9-8135-D9766AC9894A}"/>
              </a:ext>
            </a:extLst>
          </p:cNvPr>
          <p:cNvSpPr>
            <a:spLocks xmlns:a="http://schemas.openxmlformats.org/drawingml/2006/main" noGrp="1"/>
          </p:cNvSpPr>
          <p:nvPr/>
        </p:nvSpPr>
        <p:spPr>
          <a:xfrm xmlns:a="http://schemas.openxmlformats.org/drawingml/2006/main">
            <a:off x="10058400" y="40243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45" name="risk heading 02">
            <a:extLst xmlns:a="http://schemas.openxmlformats.org/drawingml/2006/main">
              <a:ext uri="{FF2B5EF4-FFF2-40B4-BE49-F238E27FC236}">
                <a16:creationId xmlns:a16="http://schemas.microsoft.com/office/drawing/2014/main" id="{DA15F28F-C4B7-46F7-946F-464E16E0B029}"/>
              </a:ext>
            </a:extLst>
          </p:cNvPr>
          <p:cNvSpPr>
            <a:spLocks xmlns:a="http://schemas.openxmlformats.org/drawingml/2006/main" noGrp="1"/>
          </p:cNvSpPr>
          <p:nvPr/>
        </p:nvSpPr>
        <p:spPr>
          <a:xfrm xmlns:a="http://schemas.openxmlformats.org/drawingml/2006/main">
            <a:off x="2257425" y="3857625"/>
            <a:ext cx="347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42B49"/>
                </a:solidFill>
                <a:latin typeface="Arial"/>
                <a:ea typeface="Arial"/>
                <a:cs typeface="Arial"/>
              </a:defRPr>
            </a:pPr>
            <a:r>
              <a:rPr sz="1275" b="1">
                <a:solidFill>
                  <a:srgbClr val="142B49"/>
                </a:solidFill>
                <a:latin typeface="Arial"/>
                <a:ea typeface="Arial"/>
                <a:cs typeface="Arial"/>
              </a:rPr>
              <a:t>Location Accuracy</a:t>
            </a:r>
          </a:p>
        </p:txBody>
      </p:sp>
      <p:sp>
        <p:nvSpPr>
          <p:cNvPr id="46" name="risk detail 02">
            <a:extLst xmlns:a="http://schemas.openxmlformats.org/drawingml/2006/main">
              <a:ext uri="{FF2B5EF4-FFF2-40B4-BE49-F238E27FC236}">
                <a16:creationId xmlns:a16="http://schemas.microsoft.com/office/drawing/2014/main" id="{E4AF2880-6570-430E-AF0A-07A3DE8C501F}"/>
              </a:ext>
            </a:extLst>
          </p:cNvPr>
          <p:cNvSpPr>
            <a:spLocks xmlns:a="http://schemas.openxmlformats.org/drawingml/2006/main" noGrp="1"/>
          </p:cNvSpPr>
          <p:nvPr/>
        </p:nvSpPr>
        <p:spPr>
          <a:xfrm xmlns:a="http://schemas.openxmlformats.org/drawingml/2006/main">
            <a:off x="2257425" y="4086225"/>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A regional warning may not apply to a user’s exact location.</a:t>
            </a:r>
          </a:p>
        </p:txBody>
      </p:sp>
      <p:sp>
        <p:nvSpPr>
          <p:cNvPr id="47" name="strategy 02">
            <a:extLst xmlns:a="http://schemas.openxmlformats.org/drawingml/2006/main">
              <a:ext uri="{FF2B5EF4-FFF2-40B4-BE49-F238E27FC236}">
                <a16:creationId xmlns:a16="http://schemas.microsoft.com/office/drawing/2014/main" id="{EC17EAF7-65DC-4416-9EC0-4DD0A76FEB2A}"/>
              </a:ext>
            </a:extLst>
          </p:cNvPr>
          <p:cNvSpPr>
            <a:spLocks xmlns:a="http://schemas.openxmlformats.org/drawingml/2006/main" noGrp="1"/>
          </p:cNvSpPr>
          <p:nvPr/>
        </p:nvSpPr>
        <p:spPr>
          <a:xfrm xmlns:a="http://schemas.openxmlformats.org/drawingml/2006/main">
            <a:off x="6457950" y="3914775"/>
            <a:ext cx="346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Distinguish precise warning geometry from regional advisories; require local verification.</a:t>
            </a:r>
          </a:p>
        </p:txBody>
      </p:sp>
      <p:sp>
        <p:nvSpPr>
          <p:cNvPr id="48" name="risk to mitigation arrow 02">
            <a:extLst xmlns:a="http://schemas.openxmlformats.org/drawingml/2006/main">
              <a:ext uri="{FF2B5EF4-FFF2-40B4-BE49-F238E27FC236}">
                <a16:creationId xmlns:a16="http://schemas.microsoft.com/office/drawing/2014/main" id="{79F36A2F-4621-4B37-BAAF-0A4598293A03}"/>
              </a:ext>
            </a:extLst>
          </p:cNvPr>
          <p:cNvSpPr>
            <a:spLocks xmlns:a="http://schemas.openxmlformats.org/drawingml/2006/main" noGrp="1"/>
          </p:cNvSpPr>
          <p:nvPr/>
        </p:nvSpPr>
        <p:spPr>
          <a:xfrm xmlns:a="http://schemas.openxmlformats.org/drawingml/2006/main">
            <a:off x="5905500" y="4076700"/>
            <a:ext cx="352425" cy="95250"/>
          </a:xfrm>
          <a:prstGeom xmlns:a="http://schemas.openxmlformats.org/drawingml/2006/main" prst="rightArrow">
            <a:avLst/>
          </a:prstGeom>
          <a:solidFill xmlns:a="http://schemas.openxmlformats.org/drawingml/2006/main">
            <a:srgbClr val="A6BBC5"/>
          </a:solidFill>
          <a:ln xmlns:a="http://schemas.openxmlformats.org/drawingml/2006/main" w="0">
            <a:noFill/>
          </a:ln>
        </p:spPr>
      </p:sp>
      <p:sp>
        <p:nvSpPr>
          <p:cNvPr id="49" name="row divider 2">
            <a:extLst xmlns:a="http://schemas.openxmlformats.org/drawingml/2006/main">
              <a:ext uri="{FF2B5EF4-FFF2-40B4-BE49-F238E27FC236}">
                <a16:creationId xmlns:a16="http://schemas.microsoft.com/office/drawing/2014/main" id="{C3523EA0-50B5-4A6F-8AEC-F787AB9C14AB}"/>
              </a:ext>
            </a:extLst>
          </p:cNvPr>
          <p:cNvSpPr>
            <a:spLocks xmlns:a="http://schemas.openxmlformats.org/drawingml/2006/main" noGrp="1"/>
          </p:cNvSpPr>
          <p:nvPr/>
        </p:nvSpPr>
        <p:spPr>
          <a:xfrm xmlns:a="http://schemas.openxmlformats.org/drawingml/2006/main">
            <a:off x="2238375" y="4438650"/>
            <a:ext cx="7715250" cy="0"/>
          </a:xfrm>
          <a:prstGeom xmlns:a="http://schemas.openxmlformats.org/drawingml/2006/main" prst="line">
            <a:avLst/>
          </a:prstGeom>
          <a:noFill xmlns:a="http://schemas.openxmlformats.org/drawingml/2006/main"/>
          <a:ln xmlns:a="http://schemas.openxmlformats.org/drawingml/2006/main" w="6668">
            <a:solidFill>
              <a:srgbClr val="EAF0F3"/>
            </a:solidFill>
          </a:ln>
        </p:spPr>
      </p:sp>
      <p:sp>
        <p:nvSpPr>
          <p:cNvPr id="50" name="risk node 03">
            <a:extLst xmlns:a="http://schemas.openxmlformats.org/drawingml/2006/main">
              <a:ext uri="{FF2B5EF4-FFF2-40B4-BE49-F238E27FC236}">
                <a16:creationId xmlns:a16="http://schemas.microsoft.com/office/drawing/2014/main" id="{EA16516B-CABD-4A4F-8922-37BDCBC95C24}"/>
              </a:ext>
            </a:extLst>
          </p:cNvPr>
          <p:cNvSpPr>
            <a:spLocks xmlns:a="http://schemas.openxmlformats.org/drawingml/2006/main" noGrp="1"/>
          </p:cNvSpPr>
          <p:nvPr/>
        </p:nvSpPr>
        <p:spPr>
          <a:xfrm xmlns:a="http://schemas.openxmlformats.org/drawingml/2006/main">
            <a:off x="1809750" y="4610100"/>
            <a:ext cx="323850" cy="323850"/>
          </a:xfrm>
          <a:prstGeom xmlns:a="http://schemas.openxmlformats.org/drawingml/2006/main" prst="ellipse">
            <a:avLst/>
          </a:prstGeom>
          <a:solidFill xmlns:a="http://schemas.openxmlformats.org/drawingml/2006/main">
            <a:srgbClr val="C44246"/>
          </a:solidFill>
          <a:ln xmlns:a="http://schemas.openxmlformats.org/drawingml/2006/main" w="0">
            <a:noFill/>
          </a:ln>
        </p:spPr>
      </p:sp>
      <p:sp>
        <p:nvSpPr>
          <p:cNvPr id="51" name="solution node 03">
            <a:extLst xmlns:a="http://schemas.openxmlformats.org/drawingml/2006/main">
              <a:ext uri="{FF2B5EF4-FFF2-40B4-BE49-F238E27FC236}">
                <a16:creationId xmlns:a16="http://schemas.microsoft.com/office/drawing/2014/main" id="{701BB260-5691-49D3-ACE0-A7DA27DB1904}"/>
              </a:ext>
            </a:extLst>
          </p:cNvPr>
          <p:cNvSpPr>
            <a:spLocks xmlns:a="http://schemas.openxmlformats.org/drawingml/2006/main" noGrp="1"/>
          </p:cNvSpPr>
          <p:nvPr/>
        </p:nvSpPr>
        <p:spPr>
          <a:xfrm xmlns:a="http://schemas.openxmlformats.org/drawingml/2006/main">
            <a:off x="10058400" y="4610100"/>
            <a:ext cx="323850" cy="323850"/>
          </a:xfrm>
          <a:prstGeom xmlns:a="http://schemas.openxmlformats.org/drawingml/2006/main" prst="ellipse">
            <a:avLst/>
          </a:prstGeom>
          <a:solidFill xmlns:a="http://schemas.openxmlformats.org/drawingml/2006/main">
            <a:srgbClr val="20835B"/>
          </a:solidFill>
          <a:ln xmlns:a="http://schemas.openxmlformats.org/drawingml/2006/main" w="0">
            <a:noFill/>
          </a:ln>
        </p:spPr>
      </p:sp>
      <p:cxnSp>
        <p:nvCxnSpPr>
          <p:cNvPr id="135" name=""/>
          <p:cNvCxnSpPr>
            <a:stCxn xmlns:a="http://schemas.openxmlformats.org/drawingml/2006/main" id="20" idx="6"/>
            <a:endCxn xmlns:a="http://schemas.openxmlformats.org/drawingml/2006/main" id="50" idx="2"/>
          </p:cNvCxnSpPr>
          <p:nvPr/>
        </p:nvCxnSpPr>
        <p:spPr>
          <a:xfrm xmlns:a="http://schemas.openxmlformats.org/drawingml/2006/main" flipV="1">
            <a:off x="1666875" y="4772025"/>
            <a:ext cx="142875" cy="85725"/>
          </a:xfrm>
          <a:prstGeom xmlns:a="http://schemas.openxmlformats.org/drawingml/2006/main" prst="bentConnector3">
            <a:avLst>
              <a:gd name="adj1" fmla="val 50000"/>
            </a:avLst>
          </a:prstGeom>
          <a:ln xmlns:a="http://schemas.openxmlformats.org/drawingml/2006/main" w="9525">
            <a:solidFill>
              <a:srgbClr val="DDA8AA"/>
            </a:solidFill>
          </a:ln>
        </p:spPr>
      </p:cxnSp>
      <p:cxnSp>
        <p:nvCxnSpPr>
          <p:cNvPr id="136" name=""/>
          <p:cNvCxnSpPr>
            <a:stCxn xmlns:a="http://schemas.openxmlformats.org/drawingml/2006/main" id="51" idx="6"/>
            <a:endCxn xmlns:a="http://schemas.openxmlformats.org/drawingml/2006/main" id="21" idx="2"/>
          </p:cNvCxnSpPr>
          <p:nvPr/>
        </p:nvCxnSpPr>
        <p:spPr>
          <a:xfrm xmlns:a="http://schemas.openxmlformats.org/drawingml/2006/main">
            <a:off x="10382250" y="4772025"/>
            <a:ext cx="142875" cy="85725"/>
          </a:xfrm>
          <a:prstGeom xmlns:a="http://schemas.openxmlformats.org/drawingml/2006/main" prst="bentConnector3">
            <a:avLst>
              <a:gd name="adj1" fmla="val 50000"/>
            </a:avLst>
          </a:prstGeom>
          <a:ln xmlns:a="http://schemas.openxmlformats.org/drawingml/2006/main" w="9525">
            <a:solidFill>
              <a:srgbClr val="9BC8B1"/>
            </a:solidFill>
          </a:ln>
        </p:spPr>
      </p:cxnSp>
      <p:sp>
        <p:nvSpPr>
          <p:cNvPr id="54" name="risk number 03">
            <a:extLst xmlns:a="http://schemas.openxmlformats.org/drawingml/2006/main">
              <a:ext uri="{FF2B5EF4-FFF2-40B4-BE49-F238E27FC236}">
                <a16:creationId xmlns:a16="http://schemas.microsoft.com/office/drawing/2014/main" id="{5EA06178-4561-4CE4-AF92-A25308D65E51}"/>
              </a:ext>
            </a:extLst>
          </p:cNvPr>
          <p:cNvSpPr>
            <a:spLocks xmlns:a="http://schemas.openxmlformats.org/drawingml/2006/main" noGrp="1"/>
          </p:cNvSpPr>
          <p:nvPr/>
        </p:nvSpPr>
        <p:spPr>
          <a:xfrm xmlns:a="http://schemas.openxmlformats.org/drawingml/2006/main">
            <a:off x="1809750" y="46720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55" name="solution number 03">
            <a:extLst xmlns:a="http://schemas.openxmlformats.org/drawingml/2006/main">
              <a:ext uri="{FF2B5EF4-FFF2-40B4-BE49-F238E27FC236}">
                <a16:creationId xmlns:a16="http://schemas.microsoft.com/office/drawing/2014/main" id="{BF47044F-2025-463C-9FD6-6B37A81F5B55}"/>
              </a:ext>
            </a:extLst>
          </p:cNvPr>
          <p:cNvSpPr>
            <a:spLocks xmlns:a="http://schemas.openxmlformats.org/drawingml/2006/main" noGrp="1"/>
          </p:cNvSpPr>
          <p:nvPr/>
        </p:nvSpPr>
        <p:spPr>
          <a:xfrm xmlns:a="http://schemas.openxmlformats.org/drawingml/2006/main">
            <a:off x="10058400" y="46720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56" name="risk heading 03">
            <a:extLst xmlns:a="http://schemas.openxmlformats.org/drawingml/2006/main">
              <a:ext uri="{FF2B5EF4-FFF2-40B4-BE49-F238E27FC236}">
                <a16:creationId xmlns:a16="http://schemas.microsoft.com/office/drawing/2014/main" id="{BD10C41B-7541-4026-8BF6-3CFC2050DB33}"/>
              </a:ext>
            </a:extLst>
          </p:cNvPr>
          <p:cNvSpPr>
            <a:spLocks xmlns:a="http://schemas.openxmlformats.org/drawingml/2006/main" noGrp="1"/>
          </p:cNvSpPr>
          <p:nvPr/>
        </p:nvSpPr>
        <p:spPr>
          <a:xfrm xmlns:a="http://schemas.openxmlformats.org/drawingml/2006/main">
            <a:off x="2257425" y="4505325"/>
            <a:ext cx="347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42B49"/>
                </a:solidFill>
                <a:latin typeface="Arial"/>
                <a:ea typeface="Arial"/>
                <a:cs typeface="Arial"/>
              </a:defRPr>
            </a:pPr>
            <a:r>
              <a:rPr sz="1275" b="1">
                <a:solidFill>
                  <a:srgbClr val="142B49"/>
                </a:solidFill>
                <a:latin typeface="Arial"/>
                <a:ea typeface="Arial"/>
                <a:cs typeface="Arial"/>
              </a:rPr>
              <a:t>Connectivity</a:t>
            </a:r>
          </a:p>
        </p:txBody>
      </p:sp>
      <p:sp>
        <p:nvSpPr>
          <p:cNvPr id="57" name="risk detail 03">
            <a:extLst xmlns:a="http://schemas.openxmlformats.org/drawingml/2006/main">
              <a:ext uri="{FF2B5EF4-FFF2-40B4-BE49-F238E27FC236}">
                <a16:creationId xmlns:a16="http://schemas.microsoft.com/office/drawing/2014/main" id="{53E9F654-9329-4225-A331-F3BB5E3A820F}"/>
              </a:ext>
            </a:extLst>
          </p:cNvPr>
          <p:cNvSpPr>
            <a:spLocks xmlns:a="http://schemas.openxmlformats.org/drawingml/2006/main" noGrp="1"/>
          </p:cNvSpPr>
          <p:nvPr/>
        </p:nvSpPr>
        <p:spPr>
          <a:xfrm xmlns:a="http://schemas.openxmlformats.org/drawingml/2006/main">
            <a:off x="2257425" y="4733925"/>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Weak networks can interrupt access during emergencies.</a:t>
            </a:r>
          </a:p>
        </p:txBody>
      </p:sp>
      <p:sp>
        <p:nvSpPr>
          <p:cNvPr id="58" name="strategy 03">
            <a:extLst xmlns:a="http://schemas.openxmlformats.org/drawingml/2006/main">
              <a:ext uri="{FF2B5EF4-FFF2-40B4-BE49-F238E27FC236}">
                <a16:creationId xmlns:a16="http://schemas.microsoft.com/office/drawing/2014/main" id="{325B1FAA-5AC1-4681-A099-3647B433D396}"/>
              </a:ext>
            </a:extLst>
          </p:cNvPr>
          <p:cNvSpPr>
            <a:spLocks xmlns:a="http://schemas.openxmlformats.org/drawingml/2006/main" noGrp="1"/>
          </p:cNvSpPr>
          <p:nvPr/>
        </p:nvSpPr>
        <p:spPr>
          <a:xfrm xmlns:a="http://schemas.openxmlformats.org/drawingml/2006/main">
            <a:off x="6457950" y="4562475"/>
            <a:ext cx="346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Use lightweight views and retry controls; </a:t>
            </a:r>
            <a:r>
              <a:rPr sz="1163" b="1">
                <a:solidFill>
                  <a:srgbClr val="35475B"/>
                </a:solidFill>
                <a:latin typeface="Arial"/>
                <a:ea typeface="Arial"/>
                <a:cs typeface="Arial"/>
              </a:rPr>
              <a:t>proposed offline access</a:t>
            </a:r>
            <a:r>
              <a:rPr sz="1163" b="0">
                <a:solidFill>
                  <a:srgbClr val="35475B"/>
                </a:solidFill>
                <a:latin typeface="Arial"/>
                <a:ea typeface="Arial"/>
                <a:cs typeface="Arial"/>
              </a:rPr>
              <a:t> to essential guidance.</a:t>
            </a:r>
          </a:p>
        </p:txBody>
      </p:sp>
      <p:sp>
        <p:nvSpPr>
          <p:cNvPr id="59" name="risk to mitigation arrow 03">
            <a:extLst xmlns:a="http://schemas.openxmlformats.org/drawingml/2006/main">
              <a:ext uri="{FF2B5EF4-FFF2-40B4-BE49-F238E27FC236}">
                <a16:creationId xmlns:a16="http://schemas.microsoft.com/office/drawing/2014/main" id="{CCD9B7F1-CA86-4846-942A-70FE27B4DDE5}"/>
              </a:ext>
            </a:extLst>
          </p:cNvPr>
          <p:cNvSpPr>
            <a:spLocks xmlns:a="http://schemas.openxmlformats.org/drawingml/2006/main" noGrp="1"/>
          </p:cNvSpPr>
          <p:nvPr/>
        </p:nvSpPr>
        <p:spPr>
          <a:xfrm xmlns:a="http://schemas.openxmlformats.org/drawingml/2006/main">
            <a:off x="5905500" y="4724400"/>
            <a:ext cx="352425" cy="95250"/>
          </a:xfrm>
          <a:prstGeom xmlns:a="http://schemas.openxmlformats.org/drawingml/2006/main" prst="rightArrow">
            <a:avLst/>
          </a:prstGeom>
          <a:solidFill xmlns:a="http://schemas.openxmlformats.org/drawingml/2006/main">
            <a:srgbClr val="A6BBC5"/>
          </a:solidFill>
          <a:ln xmlns:a="http://schemas.openxmlformats.org/drawingml/2006/main" w="0">
            <a:noFill/>
          </a:ln>
        </p:spPr>
      </p:sp>
      <p:sp>
        <p:nvSpPr>
          <p:cNvPr id="60" name="row divider 3">
            <a:extLst xmlns:a="http://schemas.openxmlformats.org/drawingml/2006/main">
              <a:ext uri="{FF2B5EF4-FFF2-40B4-BE49-F238E27FC236}">
                <a16:creationId xmlns:a16="http://schemas.microsoft.com/office/drawing/2014/main" id="{B69B475F-07B8-4DA4-ACD7-4C6F6F87AC50}"/>
              </a:ext>
            </a:extLst>
          </p:cNvPr>
          <p:cNvSpPr>
            <a:spLocks xmlns:a="http://schemas.openxmlformats.org/drawingml/2006/main" noGrp="1"/>
          </p:cNvSpPr>
          <p:nvPr/>
        </p:nvSpPr>
        <p:spPr>
          <a:xfrm xmlns:a="http://schemas.openxmlformats.org/drawingml/2006/main">
            <a:off x="2238375" y="5086350"/>
            <a:ext cx="7715250" cy="0"/>
          </a:xfrm>
          <a:prstGeom xmlns:a="http://schemas.openxmlformats.org/drawingml/2006/main" prst="line">
            <a:avLst/>
          </a:prstGeom>
          <a:noFill xmlns:a="http://schemas.openxmlformats.org/drawingml/2006/main"/>
          <a:ln xmlns:a="http://schemas.openxmlformats.org/drawingml/2006/main" w="6668">
            <a:solidFill>
              <a:srgbClr val="EAF0F3"/>
            </a:solidFill>
          </a:ln>
        </p:spPr>
      </p:sp>
      <p:sp>
        <p:nvSpPr>
          <p:cNvPr id="61" name="risk node 04">
            <a:extLst xmlns:a="http://schemas.openxmlformats.org/drawingml/2006/main">
              <a:ext uri="{FF2B5EF4-FFF2-40B4-BE49-F238E27FC236}">
                <a16:creationId xmlns:a16="http://schemas.microsoft.com/office/drawing/2014/main" id="{C658A3DC-28D0-458F-8A0C-5E9C2031E3F0}"/>
              </a:ext>
            </a:extLst>
          </p:cNvPr>
          <p:cNvSpPr>
            <a:spLocks xmlns:a="http://schemas.openxmlformats.org/drawingml/2006/main" noGrp="1"/>
          </p:cNvSpPr>
          <p:nvPr/>
        </p:nvSpPr>
        <p:spPr>
          <a:xfrm xmlns:a="http://schemas.openxmlformats.org/drawingml/2006/main">
            <a:off x="1809750" y="5257800"/>
            <a:ext cx="323850" cy="323850"/>
          </a:xfrm>
          <a:prstGeom xmlns:a="http://schemas.openxmlformats.org/drawingml/2006/main" prst="ellipse">
            <a:avLst/>
          </a:prstGeom>
          <a:solidFill xmlns:a="http://schemas.openxmlformats.org/drawingml/2006/main">
            <a:srgbClr val="C44246"/>
          </a:solidFill>
          <a:ln xmlns:a="http://schemas.openxmlformats.org/drawingml/2006/main" w="0">
            <a:noFill/>
          </a:ln>
        </p:spPr>
      </p:sp>
      <p:sp>
        <p:nvSpPr>
          <p:cNvPr id="62" name="solution node 04">
            <a:extLst xmlns:a="http://schemas.openxmlformats.org/drawingml/2006/main">
              <a:ext uri="{FF2B5EF4-FFF2-40B4-BE49-F238E27FC236}">
                <a16:creationId xmlns:a16="http://schemas.microsoft.com/office/drawing/2014/main" id="{CB6FDB59-8938-490E-AE9E-CCB5D43D7011}"/>
              </a:ext>
            </a:extLst>
          </p:cNvPr>
          <p:cNvSpPr>
            <a:spLocks xmlns:a="http://schemas.openxmlformats.org/drawingml/2006/main" noGrp="1"/>
          </p:cNvSpPr>
          <p:nvPr/>
        </p:nvSpPr>
        <p:spPr>
          <a:xfrm xmlns:a="http://schemas.openxmlformats.org/drawingml/2006/main">
            <a:off x="10058400" y="5257800"/>
            <a:ext cx="323850" cy="323850"/>
          </a:xfrm>
          <a:prstGeom xmlns:a="http://schemas.openxmlformats.org/drawingml/2006/main" prst="ellipse">
            <a:avLst/>
          </a:prstGeom>
          <a:solidFill xmlns:a="http://schemas.openxmlformats.org/drawingml/2006/main">
            <a:srgbClr val="20835B"/>
          </a:solidFill>
          <a:ln xmlns:a="http://schemas.openxmlformats.org/drawingml/2006/main" w="0">
            <a:noFill/>
          </a:ln>
        </p:spPr>
      </p:sp>
      <p:cxnSp>
        <p:nvCxnSpPr>
          <p:cNvPr id="146" name=""/>
          <p:cNvCxnSpPr>
            <a:stCxn xmlns:a="http://schemas.openxmlformats.org/drawingml/2006/main" id="20" idx="6"/>
            <a:endCxn xmlns:a="http://schemas.openxmlformats.org/drawingml/2006/main" id="61" idx="2"/>
          </p:cNvCxnSpPr>
          <p:nvPr/>
        </p:nvCxnSpPr>
        <p:spPr>
          <a:xfrm xmlns:a="http://schemas.openxmlformats.org/drawingml/2006/main">
            <a:off x="1666875" y="4857750"/>
            <a:ext cx="142875" cy="561975"/>
          </a:xfrm>
          <a:prstGeom xmlns:a="http://schemas.openxmlformats.org/drawingml/2006/main" prst="bentConnector3">
            <a:avLst>
              <a:gd name="adj1" fmla="val 50000"/>
            </a:avLst>
          </a:prstGeom>
          <a:ln xmlns:a="http://schemas.openxmlformats.org/drawingml/2006/main" w="9525">
            <a:solidFill>
              <a:srgbClr val="DDA8AA"/>
            </a:solidFill>
          </a:ln>
        </p:spPr>
      </p:cxnSp>
      <p:cxnSp>
        <p:nvCxnSpPr>
          <p:cNvPr id="147" name=""/>
          <p:cNvCxnSpPr>
            <a:stCxn xmlns:a="http://schemas.openxmlformats.org/drawingml/2006/main" id="62" idx="6"/>
            <a:endCxn xmlns:a="http://schemas.openxmlformats.org/drawingml/2006/main" id="21" idx="2"/>
          </p:cNvCxnSpPr>
          <p:nvPr/>
        </p:nvCxnSpPr>
        <p:spPr>
          <a:xfrm xmlns:a="http://schemas.openxmlformats.org/drawingml/2006/main" flipV="1">
            <a:off x="10382250" y="4857750"/>
            <a:ext cx="142875" cy="561975"/>
          </a:xfrm>
          <a:prstGeom xmlns:a="http://schemas.openxmlformats.org/drawingml/2006/main" prst="bentConnector3">
            <a:avLst>
              <a:gd name="adj1" fmla="val 50000"/>
            </a:avLst>
          </a:prstGeom>
          <a:ln xmlns:a="http://schemas.openxmlformats.org/drawingml/2006/main" w="9525">
            <a:solidFill>
              <a:srgbClr val="9BC8B1"/>
            </a:solidFill>
          </a:ln>
        </p:spPr>
      </p:cxnSp>
      <p:sp>
        <p:nvSpPr>
          <p:cNvPr id="65" name="risk number 04">
            <a:extLst xmlns:a="http://schemas.openxmlformats.org/drawingml/2006/main">
              <a:ext uri="{FF2B5EF4-FFF2-40B4-BE49-F238E27FC236}">
                <a16:creationId xmlns:a16="http://schemas.microsoft.com/office/drawing/2014/main" id="{B7675EF0-CCF8-4289-B061-B5D3FDAAB5B7}"/>
              </a:ext>
            </a:extLst>
          </p:cNvPr>
          <p:cNvSpPr>
            <a:spLocks xmlns:a="http://schemas.openxmlformats.org/drawingml/2006/main" noGrp="1"/>
          </p:cNvSpPr>
          <p:nvPr/>
        </p:nvSpPr>
        <p:spPr>
          <a:xfrm xmlns:a="http://schemas.openxmlformats.org/drawingml/2006/main">
            <a:off x="1809750" y="53197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66" name="solution number 04">
            <a:extLst xmlns:a="http://schemas.openxmlformats.org/drawingml/2006/main">
              <a:ext uri="{FF2B5EF4-FFF2-40B4-BE49-F238E27FC236}">
                <a16:creationId xmlns:a16="http://schemas.microsoft.com/office/drawing/2014/main" id="{DDF30A4A-4023-48CD-B467-E0C95B1E5247}"/>
              </a:ext>
            </a:extLst>
          </p:cNvPr>
          <p:cNvSpPr>
            <a:spLocks xmlns:a="http://schemas.openxmlformats.org/drawingml/2006/main" noGrp="1"/>
          </p:cNvSpPr>
          <p:nvPr/>
        </p:nvSpPr>
        <p:spPr>
          <a:xfrm xmlns:a="http://schemas.openxmlformats.org/drawingml/2006/main">
            <a:off x="10058400" y="53197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67" name="risk heading 04">
            <a:extLst xmlns:a="http://schemas.openxmlformats.org/drawingml/2006/main">
              <a:ext uri="{FF2B5EF4-FFF2-40B4-BE49-F238E27FC236}">
                <a16:creationId xmlns:a16="http://schemas.microsoft.com/office/drawing/2014/main" id="{1F43EECA-F6A5-464C-85FD-7621D54A4538}"/>
              </a:ext>
            </a:extLst>
          </p:cNvPr>
          <p:cNvSpPr>
            <a:spLocks xmlns:a="http://schemas.openxmlformats.org/drawingml/2006/main" noGrp="1"/>
          </p:cNvSpPr>
          <p:nvPr/>
        </p:nvSpPr>
        <p:spPr>
          <a:xfrm xmlns:a="http://schemas.openxmlformats.org/drawingml/2006/main">
            <a:off x="2257425" y="5153025"/>
            <a:ext cx="347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42B49"/>
                </a:solidFill>
                <a:latin typeface="Arial"/>
                <a:ea typeface="Arial"/>
                <a:cs typeface="Arial"/>
              </a:defRPr>
            </a:pPr>
            <a:r>
              <a:rPr sz="1275" b="1">
                <a:solidFill>
                  <a:srgbClr val="142B49"/>
                </a:solidFill>
                <a:latin typeface="Arial"/>
                <a:ea typeface="Arial"/>
                <a:cs typeface="Arial"/>
              </a:rPr>
              <a:t>Data Privacy</a:t>
            </a:r>
          </a:p>
        </p:txBody>
      </p:sp>
      <p:sp>
        <p:nvSpPr>
          <p:cNvPr id="68" name="risk detail 04">
            <a:extLst xmlns:a="http://schemas.openxmlformats.org/drawingml/2006/main">
              <a:ext uri="{FF2B5EF4-FFF2-40B4-BE49-F238E27FC236}">
                <a16:creationId xmlns:a16="http://schemas.microsoft.com/office/drawing/2014/main" id="{CCE435D2-2CC1-47D1-89B1-69316E091BA2}"/>
              </a:ext>
            </a:extLst>
          </p:cNvPr>
          <p:cNvSpPr>
            <a:spLocks xmlns:a="http://schemas.openxmlformats.org/drawingml/2006/main" noGrp="1"/>
          </p:cNvSpPr>
          <p:nvPr/>
        </p:nvSpPr>
        <p:spPr>
          <a:xfrm xmlns:a="http://schemas.openxmlformats.org/drawingml/2006/main">
            <a:off x="2257425" y="5381625"/>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Location, assessment and emergency-request data require protection.</a:t>
            </a:r>
          </a:p>
        </p:txBody>
      </p:sp>
      <p:sp>
        <p:nvSpPr>
          <p:cNvPr id="69" name="strategy 04">
            <a:extLst xmlns:a="http://schemas.openxmlformats.org/drawingml/2006/main">
              <a:ext uri="{FF2B5EF4-FFF2-40B4-BE49-F238E27FC236}">
                <a16:creationId xmlns:a16="http://schemas.microsoft.com/office/drawing/2014/main" id="{379B9703-B634-4596-96EF-D6E0E8EC0251}"/>
              </a:ext>
            </a:extLst>
          </p:cNvPr>
          <p:cNvSpPr>
            <a:spLocks xmlns:a="http://schemas.openxmlformats.org/drawingml/2006/main" noGrp="1"/>
          </p:cNvSpPr>
          <p:nvPr/>
        </p:nvSpPr>
        <p:spPr>
          <a:xfrm xmlns:a="http://schemas.openxmlformats.org/drawingml/2006/main">
            <a:off x="6457950" y="5210175"/>
            <a:ext cx="346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Apply consent controls, authenticated access, role-based permissions and minimal data collection.</a:t>
            </a:r>
          </a:p>
        </p:txBody>
      </p:sp>
      <p:sp>
        <p:nvSpPr>
          <p:cNvPr id="70" name="risk to mitigation arrow 04">
            <a:extLst xmlns:a="http://schemas.openxmlformats.org/drawingml/2006/main">
              <a:ext uri="{FF2B5EF4-FFF2-40B4-BE49-F238E27FC236}">
                <a16:creationId xmlns:a16="http://schemas.microsoft.com/office/drawing/2014/main" id="{1E26A205-99B8-4384-8461-87BD8B6FBD68}"/>
              </a:ext>
            </a:extLst>
          </p:cNvPr>
          <p:cNvSpPr>
            <a:spLocks xmlns:a="http://schemas.openxmlformats.org/drawingml/2006/main" noGrp="1"/>
          </p:cNvSpPr>
          <p:nvPr/>
        </p:nvSpPr>
        <p:spPr>
          <a:xfrm xmlns:a="http://schemas.openxmlformats.org/drawingml/2006/main">
            <a:off x="5905500" y="5372100"/>
            <a:ext cx="352425" cy="95250"/>
          </a:xfrm>
          <a:prstGeom xmlns:a="http://schemas.openxmlformats.org/drawingml/2006/main" prst="rightArrow">
            <a:avLst/>
          </a:prstGeom>
          <a:solidFill xmlns:a="http://schemas.openxmlformats.org/drawingml/2006/main">
            <a:srgbClr val="A6BBC5"/>
          </a:solidFill>
          <a:ln xmlns:a="http://schemas.openxmlformats.org/drawingml/2006/main" w="0">
            <a:noFill/>
          </a:ln>
        </p:spPr>
      </p:sp>
      <p:sp>
        <p:nvSpPr>
          <p:cNvPr id="71" name="row divider 4">
            <a:extLst xmlns:a="http://schemas.openxmlformats.org/drawingml/2006/main">
              <a:ext uri="{FF2B5EF4-FFF2-40B4-BE49-F238E27FC236}">
                <a16:creationId xmlns:a16="http://schemas.microsoft.com/office/drawing/2014/main" id="{B7F71AD6-4F97-4E74-B81C-DFB65E322B38}"/>
              </a:ext>
            </a:extLst>
          </p:cNvPr>
          <p:cNvSpPr>
            <a:spLocks xmlns:a="http://schemas.openxmlformats.org/drawingml/2006/main" noGrp="1"/>
          </p:cNvSpPr>
          <p:nvPr/>
        </p:nvSpPr>
        <p:spPr>
          <a:xfrm xmlns:a="http://schemas.openxmlformats.org/drawingml/2006/main">
            <a:off x="2238375" y="5734050"/>
            <a:ext cx="7715250" cy="0"/>
          </a:xfrm>
          <a:prstGeom xmlns:a="http://schemas.openxmlformats.org/drawingml/2006/main" prst="line">
            <a:avLst/>
          </a:prstGeom>
          <a:noFill xmlns:a="http://schemas.openxmlformats.org/drawingml/2006/main"/>
          <a:ln xmlns:a="http://schemas.openxmlformats.org/drawingml/2006/main" w="6668">
            <a:solidFill>
              <a:srgbClr val="EAF0F3"/>
            </a:solidFill>
          </a:ln>
        </p:spPr>
      </p:sp>
      <p:sp>
        <p:nvSpPr>
          <p:cNvPr id="72" name="risk node 05">
            <a:extLst xmlns:a="http://schemas.openxmlformats.org/drawingml/2006/main">
              <a:ext uri="{FF2B5EF4-FFF2-40B4-BE49-F238E27FC236}">
                <a16:creationId xmlns:a16="http://schemas.microsoft.com/office/drawing/2014/main" id="{92D74B87-C8EB-461B-A929-A8D04A5FDDC1}"/>
              </a:ext>
            </a:extLst>
          </p:cNvPr>
          <p:cNvSpPr>
            <a:spLocks xmlns:a="http://schemas.openxmlformats.org/drawingml/2006/main" noGrp="1"/>
          </p:cNvSpPr>
          <p:nvPr/>
        </p:nvSpPr>
        <p:spPr>
          <a:xfrm xmlns:a="http://schemas.openxmlformats.org/drawingml/2006/main">
            <a:off x="1809750" y="5905500"/>
            <a:ext cx="323850" cy="323850"/>
          </a:xfrm>
          <a:prstGeom xmlns:a="http://schemas.openxmlformats.org/drawingml/2006/main" prst="ellipse">
            <a:avLst/>
          </a:prstGeom>
          <a:solidFill xmlns:a="http://schemas.openxmlformats.org/drawingml/2006/main">
            <a:srgbClr val="C44246"/>
          </a:solidFill>
          <a:ln xmlns:a="http://schemas.openxmlformats.org/drawingml/2006/main" w="0">
            <a:noFill/>
          </a:ln>
        </p:spPr>
      </p:sp>
      <p:sp>
        <p:nvSpPr>
          <p:cNvPr id="73" name="solution node 05">
            <a:extLst xmlns:a="http://schemas.openxmlformats.org/drawingml/2006/main">
              <a:ext uri="{FF2B5EF4-FFF2-40B4-BE49-F238E27FC236}">
                <a16:creationId xmlns:a16="http://schemas.microsoft.com/office/drawing/2014/main" id="{06A36264-16A4-4318-B2E2-1211A4161F75}"/>
              </a:ext>
            </a:extLst>
          </p:cNvPr>
          <p:cNvSpPr>
            <a:spLocks xmlns:a="http://schemas.openxmlformats.org/drawingml/2006/main" noGrp="1"/>
          </p:cNvSpPr>
          <p:nvPr/>
        </p:nvSpPr>
        <p:spPr>
          <a:xfrm xmlns:a="http://schemas.openxmlformats.org/drawingml/2006/main">
            <a:off x="10058400" y="5905500"/>
            <a:ext cx="323850" cy="323850"/>
          </a:xfrm>
          <a:prstGeom xmlns:a="http://schemas.openxmlformats.org/drawingml/2006/main" prst="ellipse">
            <a:avLst/>
          </a:prstGeom>
          <a:solidFill xmlns:a="http://schemas.openxmlformats.org/drawingml/2006/main">
            <a:srgbClr val="20835B"/>
          </a:solidFill>
          <a:ln xmlns:a="http://schemas.openxmlformats.org/drawingml/2006/main" w="0">
            <a:noFill/>
          </a:ln>
        </p:spPr>
      </p:sp>
      <p:cxnSp>
        <p:nvCxnSpPr>
          <p:cNvPr id="157" name=""/>
          <p:cNvCxnSpPr>
            <a:stCxn xmlns:a="http://schemas.openxmlformats.org/drawingml/2006/main" id="20" idx="6"/>
            <a:endCxn xmlns:a="http://schemas.openxmlformats.org/drawingml/2006/main" id="72" idx="2"/>
          </p:cNvCxnSpPr>
          <p:nvPr/>
        </p:nvCxnSpPr>
        <p:spPr>
          <a:xfrm xmlns:a="http://schemas.openxmlformats.org/drawingml/2006/main">
            <a:off x="1666875" y="4857750"/>
            <a:ext cx="142875" cy="1209675"/>
          </a:xfrm>
          <a:prstGeom xmlns:a="http://schemas.openxmlformats.org/drawingml/2006/main" prst="bentConnector3">
            <a:avLst>
              <a:gd name="adj1" fmla="val 50000"/>
            </a:avLst>
          </a:prstGeom>
          <a:ln xmlns:a="http://schemas.openxmlformats.org/drawingml/2006/main" w="9525">
            <a:solidFill>
              <a:srgbClr val="DDA8AA"/>
            </a:solidFill>
          </a:ln>
        </p:spPr>
      </p:cxnSp>
      <p:cxnSp>
        <p:nvCxnSpPr>
          <p:cNvPr id="158" name=""/>
          <p:cNvCxnSpPr>
            <a:stCxn xmlns:a="http://schemas.openxmlformats.org/drawingml/2006/main" id="73" idx="6"/>
            <a:endCxn xmlns:a="http://schemas.openxmlformats.org/drawingml/2006/main" id="21" idx="2"/>
          </p:cNvCxnSpPr>
          <p:nvPr/>
        </p:nvCxnSpPr>
        <p:spPr>
          <a:xfrm xmlns:a="http://schemas.openxmlformats.org/drawingml/2006/main" flipV="1">
            <a:off x="10382250" y="4857750"/>
            <a:ext cx="142875" cy="1209675"/>
          </a:xfrm>
          <a:prstGeom xmlns:a="http://schemas.openxmlformats.org/drawingml/2006/main" prst="bentConnector3">
            <a:avLst>
              <a:gd name="adj1" fmla="val 50000"/>
            </a:avLst>
          </a:prstGeom>
          <a:ln xmlns:a="http://schemas.openxmlformats.org/drawingml/2006/main" w="9525">
            <a:solidFill>
              <a:srgbClr val="9BC8B1"/>
            </a:solidFill>
          </a:ln>
        </p:spPr>
      </p:cxnSp>
      <p:sp>
        <p:nvSpPr>
          <p:cNvPr id="76" name="risk number 05">
            <a:extLst xmlns:a="http://schemas.openxmlformats.org/drawingml/2006/main">
              <a:ext uri="{FF2B5EF4-FFF2-40B4-BE49-F238E27FC236}">
                <a16:creationId xmlns:a16="http://schemas.microsoft.com/office/drawing/2014/main" id="{F06D48DD-B191-43E3-A1D6-37E35DBEBD87}"/>
              </a:ext>
            </a:extLst>
          </p:cNvPr>
          <p:cNvSpPr>
            <a:spLocks xmlns:a="http://schemas.openxmlformats.org/drawingml/2006/main" noGrp="1"/>
          </p:cNvSpPr>
          <p:nvPr/>
        </p:nvSpPr>
        <p:spPr>
          <a:xfrm xmlns:a="http://schemas.openxmlformats.org/drawingml/2006/main">
            <a:off x="1809750" y="59674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77" name="solution number 05">
            <a:extLst xmlns:a="http://schemas.openxmlformats.org/drawingml/2006/main">
              <a:ext uri="{FF2B5EF4-FFF2-40B4-BE49-F238E27FC236}">
                <a16:creationId xmlns:a16="http://schemas.microsoft.com/office/drawing/2014/main" id="{3D6E5B27-C920-4891-8195-577541584BD7}"/>
              </a:ext>
            </a:extLst>
          </p:cNvPr>
          <p:cNvSpPr>
            <a:spLocks xmlns:a="http://schemas.openxmlformats.org/drawingml/2006/main" noGrp="1"/>
          </p:cNvSpPr>
          <p:nvPr/>
        </p:nvSpPr>
        <p:spPr>
          <a:xfrm xmlns:a="http://schemas.openxmlformats.org/drawingml/2006/main">
            <a:off x="10058400" y="5967413"/>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78" name="risk heading 05">
            <a:extLst xmlns:a="http://schemas.openxmlformats.org/drawingml/2006/main">
              <a:ext uri="{FF2B5EF4-FFF2-40B4-BE49-F238E27FC236}">
                <a16:creationId xmlns:a16="http://schemas.microsoft.com/office/drawing/2014/main" id="{43F9F1F1-D491-438A-AF23-75E943C3A565}"/>
              </a:ext>
            </a:extLst>
          </p:cNvPr>
          <p:cNvSpPr>
            <a:spLocks xmlns:a="http://schemas.openxmlformats.org/drawingml/2006/main" noGrp="1"/>
          </p:cNvSpPr>
          <p:nvPr/>
        </p:nvSpPr>
        <p:spPr>
          <a:xfrm xmlns:a="http://schemas.openxmlformats.org/drawingml/2006/main">
            <a:off x="2257425" y="5800725"/>
            <a:ext cx="347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42B49"/>
                </a:solidFill>
                <a:latin typeface="Arial"/>
                <a:ea typeface="Arial"/>
                <a:cs typeface="Arial"/>
              </a:defRPr>
            </a:pPr>
            <a:r>
              <a:rPr sz="1275" b="1">
                <a:solidFill>
                  <a:srgbClr val="142B49"/>
                </a:solidFill>
                <a:latin typeface="Arial"/>
                <a:ea typeface="Arial"/>
                <a:cs typeface="Arial"/>
              </a:rPr>
              <a:t>Relocation Readiness</a:t>
            </a:r>
          </a:p>
        </p:txBody>
      </p:sp>
      <p:sp>
        <p:nvSpPr>
          <p:cNvPr id="79" name="risk detail 05">
            <a:extLst xmlns:a="http://schemas.openxmlformats.org/drawingml/2006/main">
              <a:ext uri="{FF2B5EF4-FFF2-40B4-BE49-F238E27FC236}">
                <a16:creationId xmlns:a16="http://schemas.microsoft.com/office/drawing/2014/main" id="{51347BB3-3D0A-454B-AFDD-D70EB82D0033}"/>
              </a:ext>
            </a:extLst>
          </p:cNvPr>
          <p:cNvSpPr>
            <a:spLocks xmlns:a="http://schemas.openxmlformats.org/drawingml/2006/main" noGrp="1"/>
          </p:cNvSpPr>
          <p:nvPr/>
        </p:nvSpPr>
        <p:spPr>
          <a:xfrm xmlns:a="http://schemas.openxmlformats.org/drawingml/2006/main">
            <a:off x="2257425" y="6029325"/>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Shelter capacity, road access and site conditions can change.</a:t>
            </a:r>
          </a:p>
        </p:txBody>
      </p:sp>
      <p:sp>
        <p:nvSpPr>
          <p:cNvPr id="80" name="strategy 05">
            <a:extLst xmlns:a="http://schemas.openxmlformats.org/drawingml/2006/main">
              <a:ext uri="{FF2B5EF4-FFF2-40B4-BE49-F238E27FC236}">
                <a16:creationId xmlns:a16="http://schemas.microsoft.com/office/drawing/2014/main" id="{2D937FB9-B7B0-4018-B9FB-FC10C164BAC2}"/>
              </a:ext>
            </a:extLst>
          </p:cNvPr>
          <p:cNvSpPr>
            <a:spLocks xmlns:a="http://schemas.openxmlformats.org/drawingml/2006/main" noGrp="1"/>
          </p:cNvSpPr>
          <p:nvPr/>
        </p:nvSpPr>
        <p:spPr>
          <a:xfrm xmlns:a="http://schemas.openxmlformats.org/drawingml/2006/main">
            <a:off x="6457950" y="5857875"/>
            <a:ext cx="346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63" b="0">
                <a:solidFill>
                  <a:srgbClr val="35475B"/>
                </a:solidFill>
                <a:latin typeface="Arial"/>
                <a:ea typeface="Arial"/>
                <a:cs typeface="Arial"/>
              </a:defRPr>
            </a:pPr>
            <a:r>
              <a:rPr sz="1163" b="0">
                <a:solidFill>
                  <a:srgbClr val="35475B"/>
                </a:solidFill>
                <a:latin typeface="Arial"/>
                <a:ea typeface="Arial"/>
                <a:cs typeface="Arial"/>
              </a:rPr>
              <a:t>Require fresh field assessments, capacity checks and authorized approval before relocation.</a:t>
            </a:r>
          </a:p>
        </p:txBody>
      </p:sp>
      <p:sp>
        <p:nvSpPr>
          <p:cNvPr id="81" name="risk to mitigation arrow 05">
            <a:extLst xmlns:a="http://schemas.openxmlformats.org/drawingml/2006/main">
              <a:ext uri="{FF2B5EF4-FFF2-40B4-BE49-F238E27FC236}">
                <a16:creationId xmlns:a16="http://schemas.microsoft.com/office/drawing/2014/main" id="{015217D9-928B-4EB6-AD78-11F52ADBABCA}"/>
              </a:ext>
            </a:extLst>
          </p:cNvPr>
          <p:cNvSpPr>
            <a:spLocks xmlns:a="http://schemas.openxmlformats.org/drawingml/2006/main" noGrp="1"/>
          </p:cNvSpPr>
          <p:nvPr/>
        </p:nvSpPr>
        <p:spPr>
          <a:xfrm xmlns:a="http://schemas.openxmlformats.org/drawingml/2006/main">
            <a:off x="5905500" y="6019800"/>
            <a:ext cx="352425" cy="95250"/>
          </a:xfrm>
          <a:prstGeom xmlns:a="http://schemas.openxmlformats.org/drawingml/2006/main" prst="rightArrow">
            <a:avLst/>
          </a:prstGeom>
          <a:solidFill xmlns:a="http://schemas.openxmlformats.org/drawingml/2006/main">
            <a:srgbClr val="A6BBC5"/>
          </a:solidFill>
          <a:ln xmlns:a="http://schemas.openxmlformats.org/drawingml/2006/main" w="0">
            <a:noFill/>
          </a:ln>
        </p:spPr>
      </p:sp>
      <p:sp>
        <p:nvSpPr>
          <p:cNvPr id="82" name="prototype boundary">
            <a:extLst xmlns:a="http://schemas.openxmlformats.org/drawingml/2006/main">
              <a:ext uri="{FF2B5EF4-FFF2-40B4-BE49-F238E27FC236}">
                <a16:creationId xmlns:a16="http://schemas.microsoft.com/office/drawing/2014/main" id="{A507D8D2-72E0-4A63-916D-D9C3893C868C}"/>
              </a:ext>
            </a:extLst>
          </p:cNvPr>
          <p:cNvSpPr>
            <a:spLocks xmlns:a="http://schemas.openxmlformats.org/drawingml/2006/main" noGrp="1"/>
          </p:cNvSpPr>
          <p:nvPr/>
        </p:nvSpPr>
        <p:spPr>
          <a:xfrm xmlns:a="http://schemas.openxmlformats.org/drawingml/2006/main">
            <a:off x="295275" y="6638925"/>
            <a:ext cx="1123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15" b="0">
                <a:solidFill>
                  <a:srgbClr val="687B8A"/>
                </a:solidFill>
                <a:latin typeface="Arial"/>
                <a:ea typeface="Arial"/>
                <a:cs typeface="Arial"/>
              </a:defRPr>
            </a:pPr>
            <a:r>
              <a:rPr sz="915" b="0">
                <a:solidFill>
                  <a:srgbClr val="687B8A"/>
                </a:solidFill>
                <a:latin typeface="Arial"/>
                <a:ea typeface="Arial"/>
                <a:cs typeface="Arial"/>
              </a:rPr>
              <a:t>Decision-support prototype. Local verification and authorized approval remain essential.</a:t>
            </a:r>
          </a:p>
        </p:txBody>
      </p:sp>
      <p:sp>
        <p:nvSpPr>
          <p:cNvPr id="83" name="slide number">
            <a:extLst xmlns:a="http://schemas.openxmlformats.org/drawingml/2006/main">
              <a:ext uri="{FF2B5EF4-FFF2-40B4-BE49-F238E27FC236}">
                <a16:creationId xmlns:a16="http://schemas.microsoft.com/office/drawing/2014/main" id="{8D653334-C6B3-479E-92F1-087AED8B13D4}"/>
              </a:ext>
            </a:extLst>
          </p:cNvPr>
          <p:cNvSpPr>
            <a:spLocks xmlns:a="http://schemas.openxmlformats.org/drawingml/2006/main" noGrp="1"/>
          </p:cNvSpPr>
          <p:nvPr/>
        </p:nvSpPr>
        <p:spPr>
          <a:xfrm xmlns:a="http://schemas.openxmlformats.org/drawingml/2006/main">
            <a:off x="11639550" y="66198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087D88"/>
                </a:solidFill>
                <a:latin typeface="Arial"/>
                <a:ea typeface="Arial"/>
                <a:cs typeface="Arial"/>
              </a:defRPr>
            </a:pPr>
            <a:r>
              <a:rPr sz="975" b="1">
                <a:solidFill>
                  <a:srgbClr val="087D88"/>
                </a:solidFill>
                <a:latin typeface="Arial"/>
                <a:ea typeface="Arial"/>
                <a:cs typeface="Arial"/>
              </a:rPr>
              <a:t>3</a:t>
            </a:r>
          </a:p>
        </p:txBody>
      </p:sp>
    </p:spTree>
    <p:extLst>
      <p:ext uri="{BB962C8B-B14F-4D97-AF65-F5344CB8AC3E}">
        <p14:creationId xmlns:p14="http://schemas.microsoft.com/office/powerpoint/2010/main" val="98891073"/>
      </p:ext>
    </p:extLst>
  </p:cSld>
</p:sld>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Software/Hardware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(Registered on portal)</a:t>
            </a:r>
            <a:endParaRPr lang="en-IN" sz="24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SURAKSHASETU</a:t>
            </a:r>
          </a:p>
        </p:txBody>
      </p:sp>
      <p:sp>
        <p:nvSpPr>
          <p:cNvPr id="15362" name="TextBox 8"/>
          <p:cNvSpPr txBox="1">
            <a:spLocks noChangeArrowheads="1"/>
          </p:cNvSpPr>
          <p:nvPr/>
        </p:nvSpPr>
        <p:spPr bwMode="auto">
          <a:xfrm>
            <a:off x="329773" y="1311826"/>
            <a:ext cx="6527799" cy="461665"/>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r>
              <a:rPr lang="en-US" sz="2400" b="1" u="sng" dirty="0">
                <a:solidFill>
                  <a:schemeClr val="tx2"/>
                </a:solidFill>
                <a:latin typeface="Arial" pitchFamily="34" charset="0"/>
                <a:cs typeface="Arial" pitchFamily="34" charset="0"/>
              </a:rPr>
              <a:t>Proposed Solution</a:t>
            </a:r>
            <a:endParaRPr lang="en-US" sz="2400" u="sng" dirty="0">
              <a:solidFill>
                <a:schemeClr val="tx2"/>
              </a:solidFill>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dirty="0">
                <a:solidFill>
                  <a:schemeClr val="bg1"/>
                </a:solidFill>
              </a:rPr>
              <a:t>@SIH Ide submission- Template</a:t>
            </a: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0F123E5E-FB06-4777-8EA6-F6915B95555F}"/>
              </a:ext>
            </a:extLst>
          </p:cNvPr>
          <p:cNvPicPr>
            <a:picLocks noChangeAspect="1"/>
          </p:cNvPicPr>
          <p:nvPr/>
        </p:nvPicPr>
        <p:blipFill>
          <a:blip r:embed="rId4"/>
          <a:srcRect l="27" t="12330" r="-27" b="7176"/>
          <a:stretch>
            <a:fillRect/>
          </a:stretch>
        </p:blipFill>
        <p:spPr>
          <a:xfrm>
            <a:off x="0" y="1201210"/>
            <a:ext cx="12185522" cy="55202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694266" y="-59055"/>
            <a:ext cx="10380133" cy="1107205"/>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CECF7E3F-43B3-E7C7-E29D-252BB37D5A4F}"/>
              </a:ext>
            </a:extLst>
          </p:cNvPr>
          <p:cNvPicPr>
            <a:picLocks noChangeAspect="1"/>
          </p:cNvPicPr>
          <p:nvPr/>
        </p:nvPicPr>
        <p:blipFill>
          <a:blip r:embed="rId4"/>
          <a:srcRect t="12330" b="6958"/>
          <a:stretch>
            <a:fillRect/>
          </a:stretch>
        </p:blipFill>
        <p:spPr>
          <a:xfrm>
            <a:off x="162064" y="1048150"/>
            <a:ext cx="11787888" cy="56733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502024" y="-47625"/>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Potential impact on the target audience</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Benefits of the solution (social, economic, environmental, etc.)</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2795263"/>
            <a:ext cx="9385300" cy="52322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geokavach_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7518</TotalTime>
  <Words>120</Words>
  <Application>Microsoft Office PowerPoint</Application>
  <PresentationFormat>Widescreen</PresentationFormat>
  <Paragraphs>39</Paragraphs>
  <Slides>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ＭＳ Ｐゴシック</vt:lpstr>
      <vt:lpstr>Arial</vt:lpstr>
      <vt:lpstr>Calibri</vt:lpstr>
      <vt:lpstr>Garamond</vt:lpstr>
      <vt:lpstr>Times New Roman</vt:lpstr>
      <vt:lpstr>TradeGothic</vt:lpstr>
      <vt:lpstr>Wingdings</vt:lpstr>
      <vt:lpstr>Office Theme</vt:lpstr>
      <vt:lpstr>SMART INDIA HACKATHON 2026</vt:lpstr>
      <vt:lpstr>SURAKSHASETU</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Harshit Pal</cp:lastModifiedBy>
  <cp:revision>149</cp:revision>
  <dcterms:created xsi:type="dcterms:W3CDTF">2013-12-12T18:46:50Z</dcterms:created>
  <dcterms:modified xsi:type="dcterms:W3CDTF">2026-09-09T07:07:56Z</dcterms:modified>
  <cp:category/>
</cp:coreProperties>
</file>